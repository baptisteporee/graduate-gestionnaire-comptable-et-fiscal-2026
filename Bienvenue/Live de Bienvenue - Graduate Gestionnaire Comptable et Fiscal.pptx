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8" r:id="rId2"/>
    <p:sldId id="259" r:id="rId3"/>
    <p:sldId id="260" r:id="rId4"/>
    <p:sldId id="261" r:id="rId5"/>
    <p:sldId id="263" r:id="rId6"/>
    <p:sldId id="267" r:id="rId7"/>
    <p:sldId id="268" r:id="rId8"/>
    <p:sldId id="269" r:id="rId9"/>
  </p:sldIdLst>
  <p:sldSz cx="9144000" cy="5143500" type="screen16x9"/>
  <p:notesSz cx="6858000" cy="9144000"/>
  <p:embeddedFontLst>
    <p:embeddedFont>
      <p:font typeface="Roboto Medium" panose="020B0604020202020204" charset="0"/>
      <p:regular r:id="rId11"/>
      <p:bold r:id="rId12"/>
      <p:italic r:id="rId13"/>
      <p:boldItalic r:id="rId14"/>
    </p:embeddedFont>
    <p:embeddedFont>
      <p:font typeface="Caveat SemiBold" panose="020B0604020202020204" charset="0"/>
      <p:regular r:id="rId15"/>
      <p:bold r:id="rId16"/>
    </p:embeddedFont>
    <p:embeddedFont>
      <p:font typeface="Poppins" panose="020B0604020202020204" charset="0"/>
      <p:regular r:id="rId17"/>
      <p:bold r:id="rId18"/>
      <p:italic r:id="rId19"/>
      <p:boldItalic r:id="rId20"/>
    </p:embeddedFont>
    <p:embeddedFont>
      <p:font typeface="Roboto" panose="020B0604020202020204" charset="0"/>
      <p:regular r:id="rId21"/>
      <p:bold r:id="rId22"/>
      <p:italic r:id="rId23"/>
      <p:boldItalic r:id="rId24"/>
    </p:embeddedFont>
    <p:embeddedFont>
      <p:font typeface="Impact" panose="020B0806030902050204" pitchFamily="34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04" d="100"/>
          <a:sy n="204" d="100"/>
        </p:scale>
        <p:origin x="115" y="144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c6290bec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g2c6290bec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c6290bec1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c6290bec1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11961aae5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11961aae5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11961aae5b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11961aae5b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ff724c5bba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ff724c5bba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008c75309d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008c75309d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11961aae5b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11961aae5b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c6a38f36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2c6a38f36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/>
          <p:nvPr/>
        </p:nvSpPr>
        <p:spPr>
          <a:xfrm>
            <a:off x="4308152" y="-425808"/>
            <a:ext cx="6667500" cy="6667500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59B9C7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" name="Google Shape;79;p15"/>
          <p:cNvGrpSpPr/>
          <p:nvPr/>
        </p:nvGrpSpPr>
        <p:grpSpPr>
          <a:xfrm rot="-3270346">
            <a:off x="4174406" y="300598"/>
            <a:ext cx="6661179" cy="3327297"/>
            <a:chOff x="0" y="0"/>
            <a:chExt cx="4060920" cy="2233549"/>
          </a:xfrm>
        </p:grpSpPr>
        <p:sp>
          <p:nvSpPr>
            <p:cNvPr id="80" name="Google Shape;80;p15"/>
            <p:cNvSpPr/>
            <p:nvPr/>
          </p:nvSpPr>
          <p:spPr>
            <a:xfrm>
              <a:off x="19050" y="19050"/>
              <a:ext cx="4022947" cy="2195449"/>
            </a:xfrm>
            <a:custGeom>
              <a:avLst/>
              <a:gdLst/>
              <a:ahLst/>
              <a:cxnLst/>
              <a:rect l="l" t="t" r="r" b="b"/>
              <a:pathLst>
                <a:path w="4022947" h="2195449" extrusionOk="0">
                  <a:moveTo>
                    <a:pt x="2925031" y="2195449"/>
                  </a:moveTo>
                  <a:lnTo>
                    <a:pt x="1097788" y="2195449"/>
                  </a:lnTo>
                  <a:cubicBezTo>
                    <a:pt x="491490" y="2195449"/>
                    <a:pt x="0" y="1703959"/>
                    <a:pt x="0" y="1097661"/>
                  </a:cubicBezTo>
                  <a:cubicBezTo>
                    <a:pt x="0" y="491490"/>
                    <a:pt x="491490" y="0"/>
                    <a:pt x="1097788" y="0"/>
                  </a:cubicBezTo>
                  <a:lnTo>
                    <a:pt x="2925158" y="0"/>
                  </a:lnTo>
                  <a:cubicBezTo>
                    <a:pt x="3531457" y="0"/>
                    <a:pt x="4022947" y="491490"/>
                    <a:pt x="4022947" y="1097788"/>
                  </a:cubicBezTo>
                  <a:cubicBezTo>
                    <a:pt x="4022820" y="1703959"/>
                    <a:pt x="3531329" y="2195449"/>
                    <a:pt x="2925031" y="2195449"/>
                  </a:cubicBezTo>
                  <a:close/>
                </a:path>
              </a:pathLst>
            </a:custGeom>
            <a:solidFill>
              <a:srgbClr val="EEF8F9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0" y="0"/>
              <a:ext cx="4060920" cy="2233549"/>
            </a:xfrm>
            <a:custGeom>
              <a:avLst/>
              <a:gdLst/>
              <a:ahLst/>
              <a:cxnLst/>
              <a:rect l="l" t="t" r="r" b="b"/>
              <a:pathLst>
                <a:path w="4060920" h="2233549" extrusionOk="0">
                  <a:moveTo>
                    <a:pt x="2944081" y="2233549"/>
                  </a:moveTo>
                  <a:lnTo>
                    <a:pt x="1116838" y="2233549"/>
                  </a:lnTo>
                  <a:cubicBezTo>
                    <a:pt x="501015" y="2233549"/>
                    <a:pt x="0" y="1732534"/>
                    <a:pt x="0" y="1116838"/>
                  </a:cubicBezTo>
                  <a:cubicBezTo>
                    <a:pt x="0" y="501015"/>
                    <a:pt x="501015" y="0"/>
                    <a:pt x="1116838" y="0"/>
                  </a:cubicBezTo>
                  <a:lnTo>
                    <a:pt x="2944208" y="0"/>
                  </a:lnTo>
                  <a:cubicBezTo>
                    <a:pt x="3559904" y="0"/>
                    <a:pt x="4060920" y="501015"/>
                    <a:pt x="4060920" y="1116838"/>
                  </a:cubicBezTo>
                  <a:cubicBezTo>
                    <a:pt x="4060920" y="1732534"/>
                    <a:pt x="3559904" y="2233549"/>
                    <a:pt x="2944081" y="2233549"/>
                  </a:cubicBezTo>
                  <a:close/>
                  <a:moveTo>
                    <a:pt x="1116838" y="38100"/>
                  </a:moveTo>
                  <a:cubicBezTo>
                    <a:pt x="521970" y="38100"/>
                    <a:pt x="38100" y="521970"/>
                    <a:pt x="38100" y="1116838"/>
                  </a:cubicBezTo>
                  <a:cubicBezTo>
                    <a:pt x="38100" y="1711579"/>
                    <a:pt x="521970" y="2195576"/>
                    <a:pt x="1116838" y="2195576"/>
                  </a:cubicBezTo>
                  <a:lnTo>
                    <a:pt x="2944208" y="2195576"/>
                  </a:lnTo>
                  <a:cubicBezTo>
                    <a:pt x="3538950" y="2195576"/>
                    <a:pt x="4022947" y="1711706"/>
                    <a:pt x="4022947" y="1116838"/>
                  </a:cubicBezTo>
                  <a:cubicBezTo>
                    <a:pt x="4022820" y="521970"/>
                    <a:pt x="3538949" y="38100"/>
                    <a:pt x="2944081" y="38100"/>
                  </a:cubicBezTo>
                  <a:lnTo>
                    <a:pt x="1116838" y="38100"/>
                  </a:lnTo>
                  <a:close/>
                </a:path>
              </a:pathLst>
            </a:custGeom>
            <a:solidFill>
              <a:srgbClr val="EEF8F9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2" name="Google Shape;82;p15"/>
          <p:cNvPicPr preferRelativeResize="0"/>
          <p:nvPr/>
        </p:nvPicPr>
        <p:blipFill rotWithShape="1">
          <a:blip r:embed="rId3">
            <a:alphaModFix/>
          </a:blip>
          <a:srcRect l="44255"/>
          <a:stretch/>
        </p:blipFill>
        <p:spPr>
          <a:xfrm>
            <a:off x="5290879" y="2028013"/>
            <a:ext cx="2568900" cy="2592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550" y="1343940"/>
            <a:ext cx="1435876" cy="4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219325" y="2221725"/>
            <a:ext cx="3825600" cy="212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300" dirty="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Bienvenue sur votre formation !</a:t>
            </a:r>
            <a:endParaRPr sz="3300" dirty="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fr" sz="2000" i="1" dirty="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G</a:t>
            </a:r>
            <a:r>
              <a:rPr lang="fr" sz="2000" i="1" dirty="0" smtClean="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raduate Gestionnaire Comptable et Fiscal</a:t>
            </a:r>
            <a:endParaRPr sz="2000" i="1" dirty="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/>
        </p:nvSpPr>
        <p:spPr>
          <a:xfrm>
            <a:off x="1767875" y="1154100"/>
            <a:ext cx="3966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r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Présentation de l’équipe pédagogique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934" y="4658151"/>
            <a:ext cx="658013" cy="22866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/>
          <p:nvPr/>
        </p:nvSpPr>
        <p:spPr>
          <a:xfrm>
            <a:off x="6989675" y="0"/>
            <a:ext cx="2154300" cy="5143500"/>
          </a:xfrm>
          <a:prstGeom prst="rect">
            <a:avLst/>
          </a:prstGeom>
          <a:solidFill>
            <a:srgbClr val="59B9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6"/>
          <p:cNvSpPr txBox="1"/>
          <p:nvPr/>
        </p:nvSpPr>
        <p:spPr>
          <a:xfrm rot="5400000">
            <a:off x="6559175" y="2017650"/>
            <a:ext cx="30000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r" sz="37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SOMMAIRE</a:t>
            </a:r>
            <a:endParaRPr sz="3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" name="Google Shape;93;p16"/>
          <p:cNvCxnSpPr/>
          <p:nvPr/>
        </p:nvCxnSpPr>
        <p:spPr>
          <a:xfrm rot="10800000">
            <a:off x="8062775" y="3604925"/>
            <a:ext cx="8100" cy="12819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" name="Google Shape;94;p16"/>
          <p:cNvSpPr txBox="1"/>
          <p:nvPr/>
        </p:nvSpPr>
        <p:spPr>
          <a:xfrm>
            <a:off x="1767875" y="1800600"/>
            <a:ext cx="513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r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Réussir votre formation : vos ressources clés à portée de main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1767875" y="2447100"/>
            <a:ext cx="5221800" cy="7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Aft>
                <a:spcPts val="600"/>
              </a:spcAft>
            </a:pPr>
            <a:r>
              <a:rPr lang="fr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Présentation du parcours </a:t>
            </a:r>
            <a:r>
              <a:rPr lang="fr-FR" b="1" dirty="0" err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Graduate</a:t>
            </a:r>
            <a:r>
              <a:rPr lang="fr-FR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Gestionnaire Comptable et Fiscal</a:t>
            </a:r>
          </a:p>
        </p:txBody>
      </p:sp>
      <p:sp>
        <p:nvSpPr>
          <p:cNvPr id="96" name="Google Shape;96;p16"/>
          <p:cNvSpPr txBox="1"/>
          <p:nvPr/>
        </p:nvSpPr>
        <p:spPr>
          <a:xfrm>
            <a:off x="1102350" y="1030950"/>
            <a:ext cx="738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r" sz="3000">
                <a:solidFill>
                  <a:srgbClr val="EE704C"/>
                </a:solidFill>
                <a:latin typeface="Roboto Medium"/>
                <a:ea typeface="Roboto Medium"/>
                <a:cs typeface="Roboto Medium"/>
                <a:sym typeface="Roboto Medium"/>
              </a:rPr>
              <a:t>01.</a:t>
            </a:r>
            <a:endParaRPr sz="3000">
              <a:solidFill>
                <a:srgbClr val="EE70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1055400" y="1677450"/>
            <a:ext cx="832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r" sz="3000">
                <a:solidFill>
                  <a:srgbClr val="EE704C"/>
                </a:solidFill>
                <a:latin typeface="Roboto Medium"/>
                <a:ea typeface="Roboto Medium"/>
                <a:cs typeface="Roboto Medium"/>
                <a:sym typeface="Roboto Medium"/>
              </a:rPr>
              <a:t>02.</a:t>
            </a:r>
            <a:endParaRPr sz="3000">
              <a:solidFill>
                <a:srgbClr val="EE70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1072350" y="2323950"/>
            <a:ext cx="798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r" sz="3000">
                <a:solidFill>
                  <a:srgbClr val="EE704C"/>
                </a:solidFill>
                <a:latin typeface="Roboto Medium"/>
                <a:ea typeface="Roboto Medium"/>
                <a:cs typeface="Roboto Medium"/>
                <a:sym typeface="Roboto Medium"/>
              </a:rPr>
              <a:t>03.</a:t>
            </a:r>
            <a:endParaRPr sz="3000">
              <a:solidFill>
                <a:srgbClr val="EE70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1767875" y="3125850"/>
            <a:ext cx="522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r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Et après ce live ?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1072350" y="2970450"/>
            <a:ext cx="798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r" sz="3000">
                <a:solidFill>
                  <a:srgbClr val="EE704C"/>
                </a:solidFill>
                <a:latin typeface="Roboto Medium"/>
                <a:ea typeface="Roboto Medium"/>
                <a:cs typeface="Roboto Medium"/>
                <a:sym typeface="Roboto Medium"/>
              </a:rPr>
              <a:t>04.</a:t>
            </a:r>
            <a:endParaRPr sz="3000">
              <a:solidFill>
                <a:srgbClr val="EE70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 rot="-302522">
            <a:off x="441362" y="600955"/>
            <a:ext cx="2450884" cy="446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r" sz="1700">
                <a:solidFill>
                  <a:schemeClr val="lt1"/>
                </a:solidFill>
                <a:highlight>
                  <a:srgbClr val="FFB527"/>
                </a:highlight>
                <a:latin typeface="Caveat SemiBold"/>
                <a:ea typeface="Caveat SemiBold"/>
                <a:cs typeface="Caveat SemiBold"/>
                <a:sym typeface="Caveat SemiBold"/>
              </a:rPr>
              <a:t>Au programme :</a:t>
            </a:r>
            <a:endParaRPr sz="1800">
              <a:solidFill>
                <a:schemeClr val="lt1"/>
              </a:solidFill>
              <a:highlight>
                <a:srgbClr val="FFB527"/>
              </a:highlight>
              <a:latin typeface="Caveat SemiBold"/>
              <a:ea typeface="Caveat SemiBold"/>
              <a:cs typeface="Caveat SemiBold"/>
              <a:sym typeface="Caveat Semi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934" y="4658151"/>
            <a:ext cx="658013" cy="22866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/>
        </p:nvSpPr>
        <p:spPr>
          <a:xfrm>
            <a:off x="1030125" y="-29850"/>
            <a:ext cx="409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B9C7"/>
                </a:solidFill>
                <a:latin typeface="Roboto Medium"/>
                <a:ea typeface="Roboto Medium"/>
                <a:cs typeface="Roboto Medium"/>
                <a:sym typeface="Roboto Medium"/>
              </a:rPr>
              <a:t>01 </a:t>
            </a:r>
            <a:r>
              <a:rPr lang="fr" sz="1300">
                <a:solidFill>
                  <a:srgbClr val="59B9C7"/>
                </a:solidFill>
                <a:latin typeface="Roboto Medium"/>
                <a:ea typeface="Roboto Medium"/>
                <a:cs typeface="Roboto Medium"/>
                <a:sym typeface="Roboto Medium"/>
              </a:rPr>
              <a:t>- PRÉSENTATION DE L'ÉQUIPE PÉDAGOGIQUE</a:t>
            </a:r>
            <a:endParaRPr sz="1300">
              <a:solidFill>
                <a:srgbClr val="59B9C7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08" name="Google Shape;108;p17"/>
          <p:cNvCxnSpPr/>
          <p:nvPr/>
        </p:nvCxnSpPr>
        <p:spPr>
          <a:xfrm>
            <a:off x="556425" y="190800"/>
            <a:ext cx="473700" cy="5100"/>
          </a:xfrm>
          <a:prstGeom prst="straightConnector1">
            <a:avLst/>
          </a:prstGeom>
          <a:noFill/>
          <a:ln w="19050" cap="flat" cmpd="sng">
            <a:solidFill>
              <a:srgbClr val="59B9C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" name="Google Shape;109;p17"/>
          <p:cNvSpPr txBox="1"/>
          <p:nvPr/>
        </p:nvSpPr>
        <p:spPr>
          <a:xfrm>
            <a:off x="1491000" y="560900"/>
            <a:ext cx="616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dirty="0" smtClean="0">
                <a:solidFill>
                  <a:srgbClr val="EE704C"/>
                </a:solidFill>
                <a:latin typeface="Roboto"/>
                <a:ea typeface="Roboto"/>
                <a:cs typeface="Roboto"/>
                <a:sym typeface="Roboto"/>
              </a:rPr>
              <a:t>Graduate Gestionnaire Comptable et Fiscal</a:t>
            </a:r>
            <a:endParaRPr sz="1500" b="1" dirty="0">
              <a:solidFill>
                <a:srgbClr val="EE704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53850" y="1330625"/>
            <a:ext cx="9144000" cy="1836000"/>
          </a:xfrm>
          <a:prstGeom prst="rect">
            <a:avLst/>
          </a:prstGeom>
          <a:solidFill>
            <a:srgbClr val="FFF8E9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365" y="1609467"/>
            <a:ext cx="1285819" cy="1278300"/>
          </a:xfrm>
          <a:prstGeom prst="ellipse">
            <a:avLst/>
          </a:prstGeom>
          <a:noFill/>
          <a:ln w="9525" cap="flat" cmpd="sng">
            <a:solidFill>
              <a:srgbClr val="FFCA4A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2" name="Google Shape;112;p17"/>
          <p:cNvSpPr txBox="1"/>
          <p:nvPr/>
        </p:nvSpPr>
        <p:spPr>
          <a:xfrm>
            <a:off x="2392117" y="2840525"/>
            <a:ext cx="23289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Responsable pédagogique</a:t>
            </a:r>
            <a:endParaRPr sz="1200"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4823714" y="2840525"/>
            <a:ext cx="23289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Formatrice référente</a:t>
            </a:r>
            <a:endParaRPr sz="1200"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2872752" y="3231125"/>
            <a:ext cx="1592050" cy="1836000"/>
          </a:xfrm>
          <a:prstGeom prst="flowChartOffpageConnector">
            <a:avLst/>
          </a:prstGeom>
          <a:solidFill>
            <a:srgbClr val="FFF2CC"/>
          </a:solidFill>
          <a:ln w="9525" cap="flat" cmpd="sng">
            <a:solidFill>
              <a:srgbClr val="FFF8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2648350" y="3259552"/>
            <a:ext cx="1399975" cy="1698725"/>
          </a:xfrm>
          <a:prstGeom prst="flowChartOffpageConnector">
            <a:avLst/>
          </a:prstGeom>
          <a:solidFill>
            <a:srgbClr val="FFB527"/>
          </a:solidFill>
          <a:ln w="9525" cap="flat" cmpd="sng">
            <a:solidFill>
              <a:srgbClr val="FFB5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Votre</a:t>
            </a:r>
            <a:r>
              <a:rPr lang="fr" sz="8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garant </a:t>
            </a:r>
            <a:r>
              <a:rPr lang="fr" sz="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du bon déroulement de votre formation ! Le responsable pédagogique Studi vous épaule au quotidien dans tous les aspects organisationnels du parcours.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17" name="Google Shape;117;p17"/>
          <p:cNvSpPr txBox="1"/>
          <p:nvPr/>
        </p:nvSpPr>
        <p:spPr>
          <a:xfrm rot="-2107492">
            <a:off x="1876425" y="1479856"/>
            <a:ext cx="2066879" cy="593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chemeClr val="dk1"/>
                </a:solidFill>
                <a:highlight>
                  <a:srgbClr val="FFB527"/>
                </a:highlight>
                <a:latin typeface="Caveat SemiBold"/>
                <a:ea typeface="Caveat SemiBold"/>
                <a:cs typeface="Caveat SemiBold"/>
                <a:sym typeface="Caveat SemiBold"/>
              </a:rPr>
              <a:t>A</a:t>
            </a:r>
            <a:r>
              <a:rPr lang="fr" dirty="0" smtClean="0">
                <a:solidFill>
                  <a:schemeClr val="dk1"/>
                </a:solidFill>
                <a:highlight>
                  <a:srgbClr val="FFB527"/>
                </a:highlight>
                <a:latin typeface="Caveat SemiBold"/>
                <a:ea typeface="Caveat SemiBold"/>
                <a:cs typeface="Caveat SemiBold"/>
                <a:sym typeface="Caveat SemiBold"/>
              </a:rPr>
              <a:t>lexandre Leger</a:t>
            </a:r>
            <a:endParaRPr dirty="0">
              <a:solidFill>
                <a:schemeClr val="dk1"/>
              </a:solidFill>
              <a:highlight>
                <a:srgbClr val="FFB527"/>
              </a:highlight>
              <a:latin typeface="Caveat SemiBold"/>
              <a:ea typeface="Caveat SemiBold"/>
              <a:cs typeface="Caveat SemiBold"/>
              <a:sym typeface="Caveat SemiBold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 rot="-2107492">
            <a:off x="4269700" y="1505981"/>
            <a:ext cx="2066879" cy="593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chemeClr val="dk1"/>
                </a:solidFill>
                <a:highlight>
                  <a:srgbClr val="FFB527"/>
                </a:highlight>
                <a:latin typeface="Caveat SemiBold"/>
                <a:ea typeface="Caveat SemiBold"/>
                <a:cs typeface="Caveat SemiBold"/>
                <a:sym typeface="Caveat SemiBold"/>
              </a:rPr>
              <a:t>A</a:t>
            </a:r>
            <a:r>
              <a:rPr lang="fr" dirty="0" smtClean="0">
                <a:solidFill>
                  <a:schemeClr val="dk1"/>
                </a:solidFill>
                <a:highlight>
                  <a:srgbClr val="FFB527"/>
                </a:highlight>
                <a:latin typeface="Caveat SemiBold"/>
                <a:ea typeface="Caveat SemiBold"/>
                <a:cs typeface="Caveat SemiBold"/>
                <a:sym typeface="Caveat SemiBold"/>
              </a:rPr>
              <a:t>lexandra BRAULT</a:t>
            </a:r>
            <a:endParaRPr dirty="0">
              <a:solidFill>
                <a:schemeClr val="dk1"/>
              </a:solidFill>
              <a:highlight>
                <a:srgbClr val="FFB527"/>
              </a:highlight>
              <a:latin typeface="Caveat SemiBold"/>
              <a:ea typeface="Caveat SemiBold"/>
              <a:cs typeface="Caveat SemiBold"/>
              <a:sym typeface="Caveat SemiBold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5304352" y="3231125"/>
            <a:ext cx="1592050" cy="1836000"/>
          </a:xfrm>
          <a:prstGeom prst="flowChartOffpageConnector">
            <a:avLst/>
          </a:prstGeom>
          <a:solidFill>
            <a:srgbClr val="FFF2CC"/>
          </a:solidFill>
          <a:ln w="9525" cap="flat" cmpd="sng">
            <a:solidFill>
              <a:srgbClr val="FFF8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5079950" y="3259552"/>
            <a:ext cx="1399975" cy="1698725"/>
          </a:xfrm>
          <a:prstGeom prst="flowChartOffpageConnector">
            <a:avLst/>
          </a:prstGeom>
          <a:solidFill>
            <a:srgbClr val="FFB527"/>
          </a:solidFill>
          <a:ln w="9525" cap="flat" cmpd="sng">
            <a:solidFill>
              <a:srgbClr val="FFB5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L’</a:t>
            </a:r>
            <a:r>
              <a:rPr lang="fr" sz="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experte</a:t>
            </a:r>
            <a:r>
              <a:rPr lang="fr" sz="800" b="1">
                <a:solidFill>
                  <a:srgbClr val="EE704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fr" sz="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 votre parcours ! En tant que professionnelle du secteur, votre formatrice référente vous accompagne dans votre progression pédagogique.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" name="Google Shape;89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57620" y="1609467"/>
            <a:ext cx="1261103" cy="1278300"/>
          </a:xfrm>
          <a:prstGeom prst="ellipse">
            <a:avLst/>
          </a:prstGeom>
          <a:noFill/>
          <a:ln w="9525" cap="flat" cmpd="sng">
            <a:solidFill>
              <a:srgbClr val="FFCA4A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934" y="4658151"/>
            <a:ext cx="658013" cy="228663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/>
          <p:nvPr/>
        </p:nvSpPr>
        <p:spPr>
          <a:xfrm>
            <a:off x="1030125" y="-29850"/>
            <a:ext cx="626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>
                <a:solidFill>
                  <a:srgbClr val="59B9C7"/>
                </a:solidFill>
                <a:latin typeface="Roboto Medium"/>
                <a:ea typeface="Roboto Medium"/>
                <a:cs typeface="Roboto Medium"/>
                <a:sym typeface="Roboto Medium"/>
              </a:rPr>
              <a:t>02 </a:t>
            </a:r>
            <a:r>
              <a:rPr lang="fr" sz="1300" dirty="0">
                <a:solidFill>
                  <a:srgbClr val="59B9C7"/>
                </a:solidFill>
                <a:latin typeface="Roboto Medium"/>
                <a:ea typeface="Roboto Medium"/>
                <a:cs typeface="Roboto Medium"/>
                <a:sym typeface="Roboto Medium"/>
              </a:rPr>
              <a:t>- RÉUSSIR VOTRE FORMATION : VOS RESSOURCES CLÉS À PORTÉE DE MAIN </a:t>
            </a:r>
            <a:endParaRPr sz="1300" dirty="0">
              <a:solidFill>
                <a:srgbClr val="59B9C7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27" name="Google Shape;127;p18"/>
          <p:cNvCxnSpPr/>
          <p:nvPr/>
        </p:nvCxnSpPr>
        <p:spPr>
          <a:xfrm>
            <a:off x="556425" y="190800"/>
            <a:ext cx="473700" cy="5100"/>
          </a:xfrm>
          <a:prstGeom prst="straightConnector1">
            <a:avLst/>
          </a:prstGeom>
          <a:noFill/>
          <a:ln w="19050" cap="flat" cmpd="sng">
            <a:solidFill>
              <a:srgbClr val="59B9C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" name="Google Shape;128;p18"/>
          <p:cNvSpPr/>
          <p:nvPr/>
        </p:nvSpPr>
        <p:spPr>
          <a:xfrm>
            <a:off x="578150" y="612275"/>
            <a:ext cx="1859100" cy="3713700"/>
          </a:xfrm>
          <a:prstGeom prst="roundRect">
            <a:avLst>
              <a:gd name="adj" fmla="val 9014"/>
            </a:avLst>
          </a:prstGeom>
          <a:noFill/>
          <a:ln w="28575" cap="flat" cmpd="sng">
            <a:solidFill>
              <a:srgbClr val="59B9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807688" y="725124"/>
            <a:ext cx="1399975" cy="708525"/>
          </a:xfrm>
          <a:prstGeom prst="flowChartOffpageConnector">
            <a:avLst/>
          </a:prstGeom>
          <a:solidFill>
            <a:srgbClr val="59B9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1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 générales ou techniques</a:t>
            </a:r>
            <a:endParaRPr sz="8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2613050" y="612275"/>
            <a:ext cx="1859100" cy="3713700"/>
          </a:xfrm>
          <a:prstGeom prst="roundRect">
            <a:avLst>
              <a:gd name="adj" fmla="val 9014"/>
            </a:avLst>
          </a:prstGeom>
          <a:noFill/>
          <a:ln w="28575" cap="flat" cmpd="sng">
            <a:solidFill>
              <a:srgbClr val="FFB5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2842600" y="725124"/>
            <a:ext cx="1399975" cy="708525"/>
          </a:xfrm>
          <a:prstGeom prst="flowChartOffpageConnector">
            <a:avLst/>
          </a:prstGeom>
          <a:solidFill>
            <a:srgbClr val="FFB527"/>
          </a:solidFill>
          <a:ln w="9525" cap="flat" cmpd="sng">
            <a:solidFill>
              <a:srgbClr val="FFB5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Comprendre mon parcours et les modalités de formation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4647950" y="612275"/>
            <a:ext cx="1859100" cy="3713700"/>
          </a:xfrm>
          <a:prstGeom prst="roundRect">
            <a:avLst>
              <a:gd name="adj" fmla="val 9014"/>
            </a:avLst>
          </a:prstGeom>
          <a:noFill/>
          <a:ln w="28575" cap="flat" cmpd="sng">
            <a:solidFill>
              <a:srgbClr val="EE70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4877513" y="725124"/>
            <a:ext cx="1399975" cy="708525"/>
          </a:xfrm>
          <a:prstGeom prst="flowChartOffpageConnector">
            <a:avLst/>
          </a:prstGeom>
          <a:solidFill>
            <a:srgbClr val="EE704C"/>
          </a:solidFill>
          <a:ln w="9525" cap="flat" cmpd="sng">
            <a:solidFill>
              <a:srgbClr val="EE70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Actualités de mon parcours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6682850" y="612275"/>
            <a:ext cx="1859100" cy="3713700"/>
          </a:xfrm>
          <a:prstGeom prst="roundRect">
            <a:avLst>
              <a:gd name="adj" fmla="val 9014"/>
            </a:avLst>
          </a:prstGeom>
          <a:noFill/>
          <a:ln w="2857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6912413" y="725124"/>
            <a:ext cx="1399975" cy="708525"/>
          </a:xfrm>
          <a:prstGeom prst="flowChartOffpageConnector">
            <a:avLst/>
          </a:prstGeom>
          <a:solidFill>
            <a:srgbClr val="93C47D"/>
          </a:solidFill>
          <a:ln w="9525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8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Approfondir les notions de cours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6" name="Google Shape;136;p18"/>
          <p:cNvSpPr txBox="1"/>
          <p:nvPr/>
        </p:nvSpPr>
        <p:spPr>
          <a:xfrm rot="-564868">
            <a:off x="474205" y="1941988"/>
            <a:ext cx="2066940" cy="59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highlight>
                  <a:srgbClr val="92D3DC"/>
                </a:highlight>
                <a:latin typeface="Caveat SemiBold"/>
                <a:ea typeface="Caveat SemiBold"/>
                <a:cs typeface="Caveat SemiBold"/>
                <a:sym typeface="Caveat SemiBold"/>
              </a:rPr>
              <a:t>Assistant virtuel</a:t>
            </a:r>
            <a:endParaRPr sz="1300">
              <a:solidFill>
                <a:schemeClr val="dk1"/>
              </a:solidFill>
              <a:highlight>
                <a:srgbClr val="92D3DC"/>
              </a:highlight>
              <a:latin typeface="Caveat SemiBold"/>
              <a:ea typeface="Caveat SemiBold"/>
              <a:cs typeface="Caveat SemiBold"/>
              <a:sym typeface="Caveat SemiBold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518250" y="284800"/>
            <a:ext cx="434700" cy="8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300" b="1">
                <a:solidFill>
                  <a:srgbClr val="59B9C7"/>
                </a:solidFill>
                <a:latin typeface="Impact"/>
                <a:ea typeface="Impact"/>
                <a:cs typeface="Impact"/>
                <a:sym typeface="Impact"/>
              </a:rPr>
              <a:t>1</a:t>
            </a:r>
            <a:endParaRPr sz="3300" b="1">
              <a:solidFill>
                <a:srgbClr val="59B9C7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8" name="Google Shape;138;p18"/>
          <p:cNvSpPr/>
          <p:nvPr/>
        </p:nvSpPr>
        <p:spPr>
          <a:xfrm rot="3581413">
            <a:off x="1242060" y="1511339"/>
            <a:ext cx="473472" cy="258419"/>
          </a:xfrm>
          <a:custGeom>
            <a:avLst/>
            <a:gdLst/>
            <a:ahLst/>
            <a:cxnLst/>
            <a:rect l="l" t="t" r="r" b="b"/>
            <a:pathLst>
              <a:path w="23782" h="17179" extrusionOk="0">
                <a:moveTo>
                  <a:pt x="0" y="2242"/>
                </a:moveTo>
                <a:cubicBezTo>
                  <a:pt x="5339" y="7047"/>
                  <a:pt x="16602" y="11615"/>
                  <a:pt x="21200" y="6097"/>
                </a:cubicBezTo>
                <a:cubicBezTo>
                  <a:pt x="22501" y="4536"/>
                  <a:pt x="24945" y="1224"/>
                  <a:pt x="23128" y="315"/>
                </a:cubicBezTo>
                <a:cubicBezTo>
                  <a:pt x="19207" y="-1645"/>
                  <a:pt x="16004" y="7580"/>
                  <a:pt x="16864" y="11878"/>
                </a:cubicBezTo>
                <a:cubicBezTo>
                  <a:pt x="17401" y="14560"/>
                  <a:pt x="20393" y="17179"/>
                  <a:pt x="23128" y="17179"/>
                </a:cubicBezTo>
              </a:path>
            </a:pathLst>
          </a:custGeom>
          <a:noFill/>
          <a:ln w="19050" cap="flat" cmpd="sng">
            <a:solidFill>
              <a:srgbClr val="92D3DC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39" name="Google Shape;139;p18"/>
          <p:cNvSpPr txBox="1"/>
          <p:nvPr/>
        </p:nvSpPr>
        <p:spPr>
          <a:xfrm>
            <a:off x="661238" y="2374250"/>
            <a:ext cx="1692900" cy="13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Pour des questions d’ordre général</a:t>
            </a:r>
            <a:endParaRPr sz="8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exemple</a:t>
            </a:r>
            <a:r>
              <a:rPr lang="fr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“</a:t>
            </a:r>
            <a:r>
              <a:rPr lang="fr" sz="8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Où se trouve mon guide de formation?</a:t>
            </a:r>
            <a:r>
              <a:rPr lang="fr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”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</a:t>
            </a:r>
            <a:r>
              <a:rPr lang="fr" sz="8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Comment avoir une attestation de formation ou un certificat de scolarité?</a:t>
            </a:r>
            <a:r>
              <a:rPr lang="fr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”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0275" y="1426888"/>
            <a:ext cx="462050" cy="45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/>
          <p:nvPr/>
        </p:nvSpPr>
        <p:spPr>
          <a:xfrm rot="3581413">
            <a:off x="3305860" y="1511339"/>
            <a:ext cx="473472" cy="258419"/>
          </a:xfrm>
          <a:custGeom>
            <a:avLst/>
            <a:gdLst/>
            <a:ahLst/>
            <a:cxnLst/>
            <a:rect l="l" t="t" r="r" b="b"/>
            <a:pathLst>
              <a:path w="23782" h="17179" extrusionOk="0">
                <a:moveTo>
                  <a:pt x="0" y="2242"/>
                </a:moveTo>
                <a:cubicBezTo>
                  <a:pt x="5339" y="7047"/>
                  <a:pt x="16602" y="11615"/>
                  <a:pt x="21200" y="6097"/>
                </a:cubicBezTo>
                <a:cubicBezTo>
                  <a:pt x="22501" y="4536"/>
                  <a:pt x="24945" y="1224"/>
                  <a:pt x="23128" y="315"/>
                </a:cubicBezTo>
                <a:cubicBezTo>
                  <a:pt x="19207" y="-1645"/>
                  <a:pt x="16004" y="7580"/>
                  <a:pt x="16864" y="11878"/>
                </a:cubicBezTo>
                <a:cubicBezTo>
                  <a:pt x="17401" y="14560"/>
                  <a:pt x="20393" y="17179"/>
                  <a:pt x="23128" y="17179"/>
                </a:cubicBezTo>
              </a:path>
            </a:pathLst>
          </a:custGeom>
          <a:noFill/>
          <a:ln w="19050" cap="flat" cmpd="sng">
            <a:solidFill>
              <a:srgbClr val="FFB527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42" name="Google Shape;142;p18"/>
          <p:cNvSpPr txBox="1"/>
          <p:nvPr/>
        </p:nvSpPr>
        <p:spPr>
          <a:xfrm rot="-564868">
            <a:off x="2546330" y="1848388"/>
            <a:ext cx="2066940" cy="59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highlight>
                  <a:srgbClr val="FFB527"/>
                </a:highlight>
                <a:latin typeface="Caveat SemiBold"/>
                <a:ea typeface="Caveat SemiBold"/>
                <a:cs typeface="Caveat SemiBold"/>
                <a:sym typeface="Caveat SemiBold"/>
              </a:rPr>
              <a:t>Responsable pédagogique</a:t>
            </a:r>
            <a:endParaRPr sz="1300">
              <a:solidFill>
                <a:schemeClr val="dk1"/>
              </a:solidFill>
              <a:highlight>
                <a:srgbClr val="FFB527"/>
              </a:highlight>
              <a:latin typeface="Caveat SemiBold"/>
              <a:ea typeface="Caveat SemiBold"/>
              <a:cs typeface="Caveat SemiBold"/>
              <a:sym typeface="Caveat SemiBold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2696150" y="2325075"/>
            <a:ext cx="1692900" cy="660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b="1">
                <a:solidFill>
                  <a:srgbClr val="FFB527"/>
                </a:solidFill>
                <a:latin typeface="Roboto"/>
                <a:ea typeface="Roboto"/>
                <a:cs typeface="Roboto"/>
                <a:sym typeface="Roboto"/>
              </a:rPr>
              <a:t>Ressource disponible :</a:t>
            </a:r>
            <a:endParaRPr sz="800" b="1">
              <a:solidFill>
                <a:srgbClr val="FFB52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fr" sz="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Guide de formation (onglet “</a:t>
            </a:r>
            <a:r>
              <a:rPr lang="fr" sz="800" b="1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Médiathèque</a:t>
            </a:r>
            <a:r>
              <a:rPr lang="fr" sz="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”)</a:t>
            </a:r>
            <a:endParaRPr sz="1800">
              <a:solidFill>
                <a:srgbClr val="FFB527"/>
              </a:solidFill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2671550" y="3281750"/>
            <a:ext cx="17421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 </a:t>
            </a:r>
            <a:r>
              <a:rPr lang="fr" sz="800" b="1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Forum</a:t>
            </a:r>
            <a:r>
              <a:rPr lang="fr" sz="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section "</a:t>
            </a:r>
            <a:r>
              <a:rPr lang="fr" sz="800" b="1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Questions sur votre parcours</a:t>
            </a:r>
            <a:r>
              <a:rPr lang="fr" sz="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endParaRPr sz="8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Les </a:t>
            </a:r>
            <a:r>
              <a:rPr lang="fr" sz="800" b="1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Lives</a:t>
            </a:r>
            <a:r>
              <a:rPr lang="fr" sz="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 l’équipe pédagogique</a:t>
            </a:r>
            <a:endParaRPr sz="8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5" name="Google Shape;145;p18"/>
          <p:cNvPicPr preferRelativeResize="0"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872" y="1433650"/>
            <a:ext cx="467131" cy="464400"/>
          </a:xfrm>
          <a:prstGeom prst="ellipse">
            <a:avLst/>
          </a:prstGeom>
          <a:noFill/>
          <a:ln w="9525" cap="flat" cmpd="sng">
            <a:solidFill>
              <a:srgbClr val="FFCA4A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6" name="Google Shape;146;p18"/>
          <p:cNvSpPr txBox="1"/>
          <p:nvPr/>
        </p:nvSpPr>
        <p:spPr>
          <a:xfrm>
            <a:off x="2575825" y="284800"/>
            <a:ext cx="434700" cy="8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300" b="1">
                <a:solidFill>
                  <a:srgbClr val="FFB527"/>
                </a:solidFill>
                <a:latin typeface="Impact"/>
                <a:ea typeface="Impact"/>
                <a:cs typeface="Impact"/>
                <a:sym typeface="Impact"/>
              </a:rPr>
              <a:t>2</a:t>
            </a:r>
            <a:endParaRPr sz="3300" b="1">
              <a:solidFill>
                <a:srgbClr val="FFB527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3252050" y="2887200"/>
            <a:ext cx="58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B527"/>
                </a:solidFill>
              </a:rPr>
              <a:t>+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4629338" y="284800"/>
            <a:ext cx="434700" cy="8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300" b="1">
                <a:solidFill>
                  <a:srgbClr val="EE704C"/>
                </a:solidFill>
                <a:latin typeface="Impact"/>
                <a:ea typeface="Impact"/>
                <a:cs typeface="Impact"/>
                <a:sym typeface="Impact"/>
              </a:rPr>
              <a:t>3</a:t>
            </a:r>
            <a:endParaRPr sz="3300" b="1">
              <a:solidFill>
                <a:srgbClr val="EE704C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9" name="Google Shape;149;p18"/>
          <p:cNvSpPr/>
          <p:nvPr/>
        </p:nvSpPr>
        <p:spPr>
          <a:xfrm rot="3581413">
            <a:off x="5340760" y="1499264"/>
            <a:ext cx="473472" cy="258419"/>
          </a:xfrm>
          <a:custGeom>
            <a:avLst/>
            <a:gdLst/>
            <a:ahLst/>
            <a:cxnLst/>
            <a:rect l="l" t="t" r="r" b="b"/>
            <a:pathLst>
              <a:path w="23782" h="17179" extrusionOk="0">
                <a:moveTo>
                  <a:pt x="0" y="2242"/>
                </a:moveTo>
                <a:cubicBezTo>
                  <a:pt x="5339" y="7047"/>
                  <a:pt x="16602" y="11615"/>
                  <a:pt x="21200" y="6097"/>
                </a:cubicBezTo>
                <a:cubicBezTo>
                  <a:pt x="22501" y="4536"/>
                  <a:pt x="24945" y="1224"/>
                  <a:pt x="23128" y="315"/>
                </a:cubicBezTo>
                <a:cubicBezTo>
                  <a:pt x="19207" y="-1645"/>
                  <a:pt x="16004" y="7580"/>
                  <a:pt x="16864" y="11878"/>
                </a:cubicBezTo>
                <a:cubicBezTo>
                  <a:pt x="17401" y="14560"/>
                  <a:pt x="20393" y="17179"/>
                  <a:pt x="23128" y="17179"/>
                </a:cubicBezTo>
              </a:path>
            </a:pathLst>
          </a:custGeom>
          <a:noFill/>
          <a:ln w="19050" cap="flat" cmpd="sng">
            <a:solidFill>
              <a:srgbClr val="EE704C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50" name="Google Shape;150;p18"/>
          <p:cNvSpPr txBox="1"/>
          <p:nvPr/>
        </p:nvSpPr>
        <p:spPr>
          <a:xfrm rot="-564868">
            <a:off x="4595055" y="1828888"/>
            <a:ext cx="2066940" cy="59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highlight>
                  <a:srgbClr val="EE704C"/>
                </a:highlight>
                <a:latin typeface="Caveat SemiBold"/>
                <a:ea typeface="Caveat SemiBold"/>
                <a:cs typeface="Caveat SemiBold"/>
                <a:sym typeface="Caveat SemiBold"/>
              </a:rPr>
              <a:t>Responsable pédagogique</a:t>
            </a:r>
            <a:endParaRPr sz="1300">
              <a:solidFill>
                <a:schemeClr val="dk1"/>
              </a:solidFill>
              <a:highlight>
                <a:srgbClr val="EE704C"/>
              </a:highlight>
              <a:latin typeface="Caveat SemiBold"/>
              <a:ea typeface="Caveat SemiBold"/>
              <a:cs typeface="Caveat SemiBold"/>
              <a:sym typeface="Caveat SemiBold"/>
            </a:endParaRPr>
          </a:p>
        </p:txBody>
      </p:sp>
      <p:pic>
        <p:nvPicPr>
          <p:cNvPr id="151" name="Google Shape;151;p18"/>
          <p:cNvPicPr preferRelativeResize="0"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0784" y="1408350"/>
            <a:ext cx="467131" cy="464400"/>
          </a:xfrm>
          <a:prstGeom prst="ellipse">
            <a:avLst/>
          </a:prstGeom>
          <a:noFill/>
          <a:ln w="9525" cap="flat" cmpd="sng">
            <a:solidFill>
              <a:srgbClr val="EE704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2" name="Google Shape;152;p18"/>
          <p:cNvSpPr txBox="1"/>
          <p:nvPr/>
        </p:nvSpPr>
        <p:spPr>
          <a:xfrm>
            <a:off x="4772450" y="2325950"/>
            <a:ext cx="1610100" cy="16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800" b="1">
                <a:solidFill>
                  <a:srgbClr val="EE704C"/>
                </a:solidFill>
                <a:latin typeface="Roboto"/>
                <a:ea typeface="Roboto"/>
                <a:cs typeface="Roboto"/>
                <a:sym typeface="Roboto"/>
              </a:rPr>
              <a:t>Ressource disponible :</a:t>
            </a:r>
            <a:r>
              <a:rPr lang="fr" sz="800">
                <a:solidFill>
                  <a:srgbClr val="EE704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fr" sz="800" b="1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Newsletter</a:t>
            </a:r>
            <a:r>
              <a:rPr lang="fr" sz="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(onglet “</a:t>
            </a:r>
            <a:r>
              <a:rPr lang="fr" sz="800" b="1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Newsletter</a:t>
            </a:r>
            <a:r>
              <a:rPr lang="fr" sz="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”)</a:t>
            </a:r>
            <a:endParaRPr sz="8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EE704C"/>
                </a:solidFill>
              </a:rPr>
              <a:t>+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800" b="1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Fil d'actualité </a:t>
            </a:r>
            <a:r>
              <a:rPr lang="fr" sz="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(onglet “</a:t>
            </a:r>
            <a:r>
              <a:rPr lang="fr" sz="800" b="1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 formation</a:t>
            </a:r>
            <a:r>
              <a:rPr lang="fr" sz="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”)</a:t>
            </a:r>
            <a:endParaRPr sz="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18"/>
          <p:cNvSpPr/>
          <p:nvPr/>
        </p:nvSpPr>
        <p:spPr>
          <a:xfrm rot="3581413">
            <a:off x="7375660" y="1536639"/>
            <a:ext cx="473472" cy="258419"/>
          </a:xfrm>
          <a:custGeom>
            <a:avLst/>
            <a:gdLst/>
            <a:ahLst/>
            <a:cxnLst/>
            <a:rect l="l" t="t" r="r" b="b"/>
            <a:pathLst>
              <a:path w="23782" h="17179" extrusionOk="0">
                <a:moveTo>
                  <a:pt x="0" y="2242"/>
                </a:moveTo>
                <a:cubicBezTo>
                  <a:pt x="5339" y="7047"/>
                  <a:pt x="16602" y="11615"/>
                  <a:pt x="21200" y="6097"/>
                </a:cubicBezTo>
                <a:cubicBezTo>
                  <a:pt x="22501" y="4536"/>
                  <a:pt x="24945" y="1224"/>
                  <a:pt x="23128" y="315"/>
                </a:cubicBezTo>
                <a:cubicBezTo>
                  <a:pt x="19207" y="-1645"/>
                  <a:pt x="16004" y="7580"/>
                  <a:pt x="16864" y="11878"/>
                </a:cubicBezTo>
                <a:cubicBezTo>
                  <a:pt x="17401" y="14560"/>
                  <a:pt x="20393" y="17179"/>
                  <a:pt x="23128" y="17179"/>
                </a:cubicBezTo>
              </a:path>
            </a:pathLst>
          </a:cu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54" name="Google Shape;154;p18"/>
          <p:cNvSpPr txBox="1"/>
          <p:nvPr/>
        </p:nvSpPr>
        <p:spPr>
          <a:xfrm>
            <a:off x="6637913" y="284800"/>
            <a:ext cx="434700" cy="8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300" b="1">
                <a:solidFill>
                  <a:srgbClr val="B6D7A8"/>
                </a:solidFill>
                <a:latin typeface="Impact"/>
                <a:ea typeface="Impact"/>
                <a:cs typeface="Impact"/>
                <a:sym typeface="Impact"/>
              </a:rPr>
              <a:t>4</a:t>
            </a:r>
            <a:endParaRPr sz="3300" b="1">
              <a:solidFill>
                <a:srgbClr val="B6D7A8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 rot="-564868">
            <a:off x="6602830" y="1830350"/>
            <a:ext cx="2066940" cy="377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1"/>
                </a:solidFill>
                <a:highlight>
                  <a:srgbClr val="B6D7A8"/>
                </a:highlight>
                <a:latin typeface="Caveat SemiBold"/>
                <a:ea typeface="Caveat SemiBold"/>
                <a:cs typeface="Caveat SemiBold"/>
                <a:sym typeface="Caveat SemiBold"/>
              </a:rPr>
              <a:t>Formatrice référente</a:t>
            </a:r>
            <a:endParaRPr sz="1300">
              <a:solidFill>
                <a:schemeClr val="dk1"/>
              </a:solidFill>
              <a:highlight>
                <a:srgbClr val="B6D7A8"/>
              </a:highlight>
              <a:latin typeface="Caveat SemiBold"/>
              <a:ea typeface="Caveat SemiBold"/>
              <a:cs typeface="Caveat SemiBold"/>
              <a:sym typeface="Caveat SemiBold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6868000" y="2277650"/>
            <a:ext cx="1536600" cy="17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b="1" dirty="0">
                <a:solidFill>
                  <a:srgbClr val="B6D7A8"/>
                </a:solidFill>
                <a:latin typeface="Roboto"/>
                <a:ea typeface="Roboto"/>
                <a:cs typeface="Roboto"/>
                <a:sym typeface="Roboto"/>
              </a:rPr>
              <a:t>Ressource disponible : </a:t>
            </a:r>
            <a:endParaRPr sz="800" b="1" dirty="0">
              <a:solidFill>
                <a:srgbClr val="B6D7A8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Lives de l’équipe pédagogique / formateur référent</a:t>
            </a:r>
            <a:endParaRPr sz="8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>
                <a:solidFill>
                  <a:srgbClr val="B6D7A8"/>
                </a:solidFill>
              </a:rPr>
              <a:t>+</a:t>
            </a:r>
            <a:endParaRPr sz="1800" dirty="0">
              <a:solidFill>
                <a:srgbClr val="B6D7A8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 </a:t>
            </a:r>
            <a:r>
              <a:rPr lang="fr" sz="800" b="1" u="sng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Forum</a:t>
            </a:r>
            <a:r>
              <a:rPr lang="fr" sz="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section "</a:t>
            </a:r>
            <a:r>
              <a:rPr lang="fr" sz="800" b="1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Questions relatives aux contenus pédagogiques</a:t>
            </a:r>
            <a:r>
              <a:rPr lang="fr" sz="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lang="fr" sz="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8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" name="Google Shape;131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20173" y="1433650"/>
            <a:ext cx="458152" cy="464400"/>
          </a:xfrm>
          <a:prstGeom prst="ellipse">
            <a:avLst/>
          </a:prstGeom>
          <a:noFill/>
          <a:ln w="9525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934" y="4658151"/>
            <a:ext cx="658013" cy="22866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/>
          <p:nvPr/>
        </p:nvSpPr>
        <p:spPr>
          <a:xfrm>
            <a:off x="1030125" y="-29850"/>
            <a:ext cx="696756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>
                <a:solidFill>
                  <a:srgbClr val="59B9C7"/>
                </a:solidFill>
                <a:latin typeface="Roboto Medium"/>
                <a:ea typeface="Roboto Medium"/>
                <a:cs typeface="Roboto Medium"/>
                <a:sym typeface="Roboto Medium"/>
              </a:rPr>
              <a:t>03 </a:t>
            </a:r>
            <a:r>
              <a:rPr lang="fr" sz="1300" dirty="0">
                <a:solidFill>
                  <a:srgbClr val="59B9C7"/>
                </a:solidFill>
                <a:latin typeface="Roboto Medium"/>
                <a:ea typeface="Roboto Medium"/>
                <a:cs typeface="Roboto Medium"/>
                <a:sym typeface="Roboto Medium"/>
              </a:rPr>
              <a:t>- PRÉSENTATION DU PARCOURS </a:t>
            </a:r>
            <a:r>
              <a:rPr lang="fr" sz="1300" dirty="0" smtClean="0">
                <a:solidFill>
                  <a:srgbClr val="59B9C7"/>
                </a:solidFill>
                <a:latin typeface="Roboto Medium"/>
                <a:ea typeface="Roboto Medium"/>
                <a:cs typeface="Roboto Medium"/>
                <a:sym typeface="Roboto Medium"/>
              </a:rPr>
              <a:t>GRADUATE GESTIONNAIRE COMPTABLE ET FISCAL</a:t>
            </a:r>
            <a:endParaRPr sz="1300" dirty="0">
              <a:solidFill>
                <a:srgbClr val="59B9C7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236" name="Google Shape;236;p20"/>
          <p:cNvCxnSpPr/>
          <p:nvPr/>
        </p:nvCxnSpPr>
        <p:spPr>
          <a:xfrm>
            <a:off x="556425" y="190800"/>
            <a:ext cx="473700" cy="5100"/>
          </a:xfrm>
          <a:prstGeom prst="straightConnector1">
            <a:avLst/>
          </a:prstGeom>
          <a:noFill/>
          <a:ln w="19050" cap="flat" cmpd="sng">
            <a:solidFill>
              <a:srgbClr val="59B9C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37" name="Google Shape;237;p20"/>
          <p:cNvGrpSpPr/>
          <p:nvPr/>
        </p:nvGrpSpPr>
        <p:grpSpPr>
          <a:xfrm>
            <a:off x="78613" y="1614001"/>
            <a:ext cx="2011825" cy="394780"/>
            <a:chOff x="640800" y="1081350"/>
            <a:chExt cx="3380650" cy="515850"/>
          </a:xfrm>
        </p:grpSpPr>
        <p:sp>
          <p:nvSpPr>
            <p:cNvPr id="238" name="Google Shape;238;p20"/>
            <p:cNvSpPr/>
            <p:nvPr/>
          </p:nvSpPr>
          <p:spPr>
            <a:xfrm>
              <a:off x="696850" y="1166100"/>
              <a:ext cx="3324600" cy="431100"/>
            </a:xfrm>
            <a:prstGeom prst="rect">
              <a:avLst/>
            </a:prstGeom>
            <a:solidFill>
              <a:srgbClr val="FFB5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640800" y="1081350"/>
              <a:ext cx="3324600" cy="431100"/>
            </a:xfrm>
            <a:prstGeom prst="rect">
              <a:avLst/>
            </a:prstGeom>
            <a:solidFill>
              <a:srgbClr val="FFF8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 b="1">
                  <a:latin typeface="Roboto"/>
                  <a:ea typeface="Roboto"/>
                  <a:cs typeface="Roboto"/>
                  <a:sym typeface="Roboto"/>
                </a:rPr>
                <a:t>Mes blocs de compétence</a:t>
              </a:r>
              <a:endParaRPr sz="1100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0" name="Google Shape;240;p20"/>
          <p:cNvGrpSpPr/>
          <p:nvPr/>
        </p:nvGrpSpPr>
        <p:grpSpPr>
          <a:xfrm>
            <a:off x="2248531" y="1634219"/>
            <a:ext cx="2011825" cy="394780"/>
            <a:chOff x="640800" y="1081350"/>
            <a:chExt cx="3380650" cy="515850"/>
          </a:xfrm>
        </p:grpSpPr>
        <p:sp>
          <p:nvSpPr>
            <p:cNvPr id="241" name="Google Shape;241;p20"/>
            <p:cNvSpPr/>
            <p:nvPr/>
          </p:nvSpPr>
          <p:spPr>
            <a:xfrm>
              <a:off x="696850" y="1166100"/>
              <a:ext cx="3324600" cy="431100"/>
            </a:xfrm>
            <a:prstGeom prst="rect">
              <a:avLst/>
            </a:prstGeom>
            <a:solidFill>
              <a:srgbClr val="FFB5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640800" y="1081350"/>
              <a:ext cx="3324600" cy="431100"/>
            </a:xfrm>
            <a:prstGeom prst="rect">
              <a:avLst/>
            </a:prstGeom>
            <a:solidFill>
              <a:srgbClr val="FFF8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 b="1">
                  <a:latin typeface="Roboto"/>
                  <a:ea typeface="Roboto"/>
                  <a:cs typeface="Roboto"/>
                  <a:sym typeface="Roboto"/>
                </a:rPr>
                <a:t>Dossier Professionnel</a:t>
              </a:r>
              <a:endParaRPr sz="1100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3" name="Google Shape;243;p20"/>
          <p:cNvGrpSpPr/>
          <p:nvPr/>
        </p:nvGrpSpPr>
        <p:grpSpPr>
          <a:xfrm>
            <a:off x="4418449" y="1634219"/>
            <a:ext cx="2011825" cy="394780"/>
            <a:chOff x="640800" y="1081350"/>
            <a:chExt cx="3380650" cy="515850"/>
          </a:xfrm>
        </p:grpSpPr>
        <p:sp>
          <p:nvSpPr>
            <p:cNvPr id="244" name="Google Shape;244;p20"/>
            <p:cNvSpPr/>
            <p:nvPr/>
          </p:nvSpPr>
          <p:spPr>
            <a:xfrm>
              <a:off x="696850" y="1166100"/>
              <a:ext cx="3324600" cy="431100"/>
            </a:xfrm>
            <a:prstGeom prst="rect">
              <a:avLst/>
            </a:prstGeom>
            <a:solidFill>
              <a:srgbClr val="FFB5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640800" y="1081350"/>
              <a:ext cx="3324600" cy="431100"/>
            </a:xfrm>
            <a:prstGeom prst="rect">
              <a:avLst/>
            </a:prstGeom>
            <a:solidFill>
              <a:srgbClr val="FFF8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sz="1100" b="1">
                  <a:latin typeface="Roboto"/>
                  <a:ea typeface="Roboto"/>
                  <a:cs typeface="Roboto"/>
                  <a:sym typeface="Roboto"/>
                </a:rPr>
                <a:t>Evaluation d'éligibilité </a:t>
              </a:r>
              <a:endParaRPr sz="1100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6" name="Google Shape;246;p20"/>
          <p:cNvGrpSpPr/>
          <p:nvPr/>
        </p:nvGrpSpPr>
        <p:grpSpPr>
          <a:xfrm>
            <a:off x="6943679" y="1621453"/>
            <a:ext cx="2121696" cy="420315"/>
            <a:chOff x="640800" y="1081350"/>
            <a:chExt cx="3380650" cy="515850"/>
          </a:xfrm>
        </p:grpSpPr>
        <p:sp>
          <p:nvSpPr>
            <p:cNvPr id="247" name="Google Shape;247;p20"/>
            <p:cNvSpPr/>
            <p:nvPr/>
          </p:nvSpPr>
          <p:spPr>
            <a:xfrm>
              <a:off x="696850" y="1166100"/>
              <a:ext cx="3324600" cy="431100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640800" y="1081350"/>
              <a:ext cx="3324600" cy="4311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11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Mes certificats de blocs Studi/Mon diplôme Studi</a:t>
              </a:r>
              <a:endParaRPr sz="1100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9" name="Google Shape;249;p20"/>
          <p:cNvGrpSpPr/>
          <p:nvPr/>
        </p:nvGrpSpPr>
        <p:grpSpPr>
          <a:xfrm>
            <a:off x="78613" y="2217025"/>
            <a:ext cx="2011825" cy="394780"/>
            <a:chOff x="640800" y="1081350"/>
            <a:chExt cx="3380650" cy="515850"/>
          </a:xfrm>
        </p:grpSpPr>
        <p:sp>
          <p:nvSpPr>
            <p:cNvPr id="250" name="Google Shape;250;p20"/>
            <p:cNvSpPr/>
            <p:nvPr/>
          </p:nvSpPr>
          <p:spPr>
            <a:xfrm>
              <a:off x="696850" y="1166100"/>
              <a:ext cx="3324600" cy="431100"/>
            </a:xfrm>
            <a:prstGeom prst="rect">
              <a:avLst/>
            </a:prstGeom>
            <a:solidFill>
              <a:srgbClr val="59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640800" y="1081350"/>
              <a:ext cx="3324600" cy="431100"/>
            </a:xfrm>
            <a:prstGeom prst="rect">
              <a:avLst/>
            </a:prstGeom>
            <a:solidFill>
              <a:srgbClr val="EFF2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100"/>
              </a:pPr>
              <a:r>
                <a:rPr lang="fr" sz="700" b="1" u="sng" dirty="0">
                  <a:latin typeface="Roboto"/>
                  <a:ea typeface="Roboto"/>
                  <a:cs typeface="Roboto"/>
                  <a:sym typeface="Roboto"/>
                </a:rPr>
                <a:t>Bloc 1 </a:t>
              </a:r>
              <a:r>
                <a:rPr lang="fr" sz="700" dirty="0">
                  <a:latin typeface="Roboto"/>
                  <a:ea typeface="Roboto"/>
                  <a:cs typeface="Roboto"/>
                  <a:sym typeface="Roboto"/>
                </a:rPr>
                <a:t>: </a:t>
              </a:r>
              <a:r>
                <a:rPr lang="fr-FR" sz="7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Etablir et présenter les arrêtés comptables périodiques</a:t>
              </a:r>
            </a:p>
            <a:p>
              <a:pPr lvl="0" algn="ctr">
                <a:buClr>
                  <a:schemeClr val="dk1"/>
                </a:buClr>
                <a:buSzPts val="1100"/>
              </a:pPr>
              <a:r>
                <a:rPr lang="fr-FR" sz="7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et annuels</a:t>
              </a:r>
              <a:endParaRPr lang="fr-FR"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2" name="Google Shape;252;p20"/>
          <p:cNvGrpSpPr/>
          <p:nvPr/>
        </p:nvGrpSpPr>
        <p:grpSpPr>
          <a:xfrm>
            <a:off x="78613" y="2724030"/>
            <a:ext cx="2011825" cy="394780"/>
            <a:chOff x="640800" y="1081350"/>
            <a:chExt cx="3380650" cy="515850"/>
          </a:xfrm>
        </p:grpSpPr>
        <p:sp>
          <p:nvSpPr>
            <p:cNvPr id="253" name="Google Shape;253;p20"/>
            <p:cNvSpPr/>
            <p:nvPr/>
          </p:nvSpPr>
          <p:spPr>
            <a:xfrm>
              <a:off x="696850" y="1166100"/>
              <a:ext cx="3324600" cy="431100"/>
            </a:xfrm>
            <a:prstGeom prst="rect">
              <a:avLst/>
            </a:prstGeom>
            <a:solidFill>
              <a:srgbClr val="59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640800" y="1081350"/>
              <a:ext cx="3324600" cy="431100"/>
            </a:xfrm>
            <a:prstGeom prst="rect">
              <a:avLst/>
            </a:prstGeom>
            <a:solidFill>
              <a:srgbClr val="EFF2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100"/>
              </a:pPr>
              <a:r>
                <a:rPr lang="fr" sz="700" b="1" u="sng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Bloc 2 </a:t>
              </a:r>
              <a:r>
                <a:rPr lang="fr" sz="7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: </a:t>
              </a:r>
              <a:r>
                <a:rPr lang="fr-FR" sz="7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Renseigner et contrôler les déclarations fiscales </a:t>
              </a:r>
              <a:endParaRPr lang="fr-FR"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5" name="Google Shape;255;p20"/>
          <p:cNvGrpSpPr/>
          <p:nvPr/>
        </p:nvGrpSpPr>
        <p:grpSpPr>
          <a:xfrm>
            <a:off x="78613" y="3289682"/>
            <a:ext cx="2011825" cy="394780"/>
            <a:chOff x="640800" y="1081350"/>
            <a:chExt cx="3380650" cy="515850"/>
          </a:xfrm>
        </p:grpSpPr>
        <p:sp>
          <p:nvSpPr>
            <p:cNvPr id="256" name="Google Shape;256;p20"/>
            <p:cNvSpPr/>
            <p:nvPr/>
          </p:nvSpPr>
          <p:spPr>
            <a:xfrm>
              <a:off x="696850" y="1166100"/>
              <a:ext cx="3324600" cy="431100"/>
            </a:xfrm>
            <a:prstGeom prst="rect">
              <a:avLst/>
            </a:prstGeom>
            <a:solidFill>
              <a:srgbClr val="59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640800" y="1081350"/>
              <a:ext cx="3324600" cy="431100"/>
            </a:xfrm>
            <a:prstGeom prst="rect">
              <a:avLst/>
            </a:prstGeom>
            <a:solidFill>
              <a:srgbClr val="EFF2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100"/>
              </a:pPr>
              <a:r>
                <a:rPr lang="fr" sz="700" b="1" u="sng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Bloc 3 </a:t>
              </a:r>
              <a:r>
                <a:rPr lang="fr" sz="7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: </a:t>
              </a:r>
              <a:r>
                <a:rPr lang="fr-FR" sz="7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Etablir et présenter des états prévisionnels de l’activité</a:t>
              </a:r>
            </a:p>
            <a:p>
              <a:pPr lvl="0" algn="ctr">
                <a:buClr>
                  <a:schemeClr val="dk1"/>
                </a:buClr>
                <a:buSzPts val="1100"/>
              </a:pPr>
              <a:r>
                <a:rPr lang="fr-FR" sz="7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de l’entreprise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8" name="Google Shape;258;p20"/>
          <p:cNvGrpSpPr/>
          <p:nvPr/>
        </p:nvGrpSpPr>
        <p:grpSpPr>
          <a:xfrm>
            <a:off x="2248526" y="2217232"/>
            <a:ext cx="2011824" cy="1689193"/>
            <a:chOff x="640801" y="1081353"/>
            <a:chExt cx="3380649" cy="515847"/>
          </a:xfrm>
        </p:grpSpPr>
        <p:sp>
          <p:nvSpPr>
            <p:cNvPr id="259" name="Google Shape;259;p20"/>
            <p:cNvSpPr/>
            <p:nvPr/>
          </p:nvSpPr>
          <p:spPr>
            <a:xfrm>
              <a:off x="696850" y="1166100"/>
              <a:ext cx="3324600" cy="431100"/>
            </a:xfrm>
            <a:prstGeom prst="rect">
              <a:avLst/>
            </a:prstGeom>
            <a:solidFill>
              <a:srgbClr val="59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640801" y="1081353"/>
              <a:ext cx="3324600" cy="480900"/>
            </a:xfrm>
            <a:prstGeom prst="rect">
              <a:avLst/>
            </a:prstGeom>
            <a:solidFill>
              <a:srgbClr val="EFF2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11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Présentation d’exemples de pratiques professionnelles (expérience professionnelle ou en cours de formation)</a:t>
              </a:r>
              <a:endParaRPr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1" name="Google Shape;261;p20"/>
          <p:cNvGrpSpPr/>
          <p:nvPr/>
        </p:nvGrpSpPr>
        <p:grpSpPr>
          <a:xfrm>
            <a:off x="6943679" y="2206603"/>
            <a:ext cx="2121696" cy="420315"/>
            <a:chOff x="640800" y="1081350"/>
            <a:chExt cx="3380650" cy="515850"/>
          </a:xfrm>
        </p:grpSpPr>
        <p:sp>
          <p:nvSpPr>
            <p:cNvPr id="262" name="Google Shape;262;p20"/>
            <p:cNvSpPr/>
            <p:nvPr/>
          </p:nvSpPr>
          <p:spPr>
            <a:xfrm>
              <a:off x="696850" y="1166100"/>
              <a:ext cx="3324600" cy="431100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/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640800" y="1081350"/>
              <a:ext cx="3324600" cy="4311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fr-FR" sz="700" dirty="0">
                  <a:latin typeface="Roboto"/>
                  <a:ea typeface="Roboto"/>
                  <a:cs typeface="Roboto"/>
                  <a:sym typeface="Roboto"/>
                </a:rPr>
                <a:t>Certification Studi du bloc : Etablir et présenter les arrêtés comptables périodiques</a:t>
              </a:r>
            </a:p>
            <a:p>
              <a:pPr lvl="0" algn="ctr"/>
              <a:r>
                <a:rPr lang="fr-FR" sz="700" dirty="0">
                  <a:latin typeface="Roboto"/>
                  <a:ea typeface="Roboto"/>
                  <a:cs typeface="Roboto"/>
                  <a:sym typeface="Roboto"/>
                </a:rPr>
                <a:t>et annuels</a:t>
              </a:r>
            </a:p>
          </p:txBody>
        </p:sp>
      </p:grpSp>
      <p:grpSp>
        <p:nvGrpSpPr>
          <p:cNvPr id="264" name="Google Shape;264;p20"/>
          <p:cNvGrpSpPr/>
          <p:nvPr/>
        </p:nvGrpSpPr>
        <p:grpSpPr>
          <a:xfrm>
            <a:off x="6943679" y="2746378"/>
            <a:ext cx="2121696" cy="420315"/>
            <a:chOff x="640800" y="1081350"/>
            <a:chExt cx="3380650" cy="515850"/>
          </a:xfrm>
        </p:grpSpPr>
        <p:sp>
          <p:nvSpPr>
            <p:cNvPr id="265" name="Google Shape;265;p20"/>
            <p:cNvSpPr/>
            <p:nvPr/>
          </p:nvSpPr>
          <p:spPr>
            <a:xfrm>
              <a:off x="696850" y="1166100"/>
              <a:ext cx="3324600" cy="431100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/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640800" y="1081350"/>
              <a:ext cx="3324600" cy="4311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fr-FR" sz="700" dirty="0">
                  <a:latin typeface="Roboto"/>
                  <a:ea typeface="Roboto"/>
                  <a:cs typeface="Roboto"/>
                  <a:sym typeface="Roboto"/>
                </a:rPr>
                <a:t>Certification Studi du bloc :  Renseigner et contrôler les déclarations fiscales </a:t>
              </a:r>
            </a:p>
          </p:txBody>
        </p:sp>
      </p:grpSp>
      <p:grpSp>
        <p:nvGrpSpPr>
          <p:cNvPr id="267" name="Google Shape;267;p20"/>
          <p:cNvGrpSpPr/>
          <p:nvPr/>
        </p:nvGrpSpPr>
        <p:grpSpPr>
          <a:xfrm>
            <a:off x="6943679" y="3348591"/>
            <a:ext cx="2121696" cy="420315"/>
            <a:chOff x="640800" y="1081350"/>
            <a:chExt cx="3380650" cy="515850"/>
          </a:xfrm>
        </p:grpSpPr>
        <p:sp>
          <p:nvSpPr>
            <p:cNvPr id="268" name="Google Shape;268;p20"/>
            <p:cNvSpPr/>
            <p:nvPr/>
          </p:nvSpPr>
          <p:spPr>
            <a:xfrm>
              <a:off x="696850" y="1166100"/>
              <a:ext cx="3324600" cy="431100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/>
            </a:p>
          </p:txBody>
        </p:sp>
        <p:sp>
          <p:nvSpPr>
            <p:cNvPr id="269" name="Google Shape;269;p20"/>
            <p:cNvSpPr/>
            <p:nvPr/>
          </p:nvSpPr>
          <p:spPr>
            <a:xfrm>
              <a:off x="640800" y="1081350"/>
              <a:ext cx="3324600" cy="4311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fr-FR" sz="700" dirty="0">
                  <a:latin typeface="Roboto"/>
                  <a:ea typeface="Roboto"/>
                  <a:cs typeface="Roboto"/>
                  <a:sym typeface="Roboto"/>
                </a:rPr>
                <a:t>Certification Studi du bloc : </a:t>
              </a:r>
              <a:r>
                <a:rPr lang="fr-FR" sz="700" dirty="0" smtClean="0"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fr-FR" sz="700" dirty="0">
                  <a:latin typeface="Roboto"/>
                  <a:ea typeface="Roboto"/>
                  <a:cs typeface="Roboto"/>
                  <a:sym typeface="Roboto"/>
                </a:rPr>
                <a:t>Etablir et présenter des états prévisionnels de l’activité</a:t>
              </a:r>
            </a:p>
            <a:p>
              <a:pPr lvl="0" algn="ctr"/>
              <a:r>
                <a:rPr lang="fr-FR" sz="700" dirty="0">
                  <a:latin typeface="Roboto"/>
                  <a:ea typeface="Roboto"/>
                  <a:cs typeface="Roboto"/>
                  <a:sym typeface="Roboto"/>
                </a:rPr>
                <a:t>de l’entreprise</a:t>
              </a:r>
              <a:endParaRPr sz="7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0" name="Google Shape;270;p20"/>
          <p:cNvGrpSpPr/>
          <p:nvPr/>
        </p:nvGrpSpPr>
        <p:grpSpPr>
          <a:xfrm>
            <a:off x="6943679" y="3928153"/>
            <a:ext cx="2121696" cy="420315"/>
            <a:chOff x="640800" y="1081350"/>
            <a:chExt cx="3380650" cy="515850"/>
          </a:xfrm>
        </p:grpSpPr>
        <p:sp>
          <p:nvSpPr>
            <p:cNvPr id="271" name="Google Shape;271;p20"/>
            <p:cNvSpPr/>
            <p:nvPr/>
          </p:nvSpPr>
          <p:spPr>
            <a:xfrm>
              <a:off x="696850" y="1166100"/>
              <a:ext cx="3324600" cy="431100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0"/>
            <p:cNvSpPr/>
            <p:nvPr/>
          </p:nvSpPr>
          <p:spPr>
            <a:xfrm>
              <a:off x="640800" y="1081350"/>
              <a:ext cx="3324600" cy="4311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fr-FR" sz="1000" b="1" dirty="0">
                  <a:solidFill>
                    <a:srgbClr val="59B9C7"/>
                  </a:solidFill>
                  <a:latin typeface="Roboto"/>
                  <a:ea typeface="Roboto"/>
                  <a:cs typeface="Roboto"/>
                  <a:sym typeface="Roboto"/>
                </a:rPr>
                <a:t>Réussir mon Diplôme </a:t>
              </a:r>
              <a:r>
                <a:rPr lang="fr-FR" sz="1000" b="1" dirty="0" smtClean="0">
                  <a:solidFill>
                    <a:srgbClr val="59B9C7"/>
                  </a:solidFill>
                  <a:latin typeface="Roboto"/>
                  <a:ea typeface="Roboto"/>
                  <a:cs typeface="Roboto"/>
                  <a:sym typeface="Roboto"/>
                </a:rPr>
                <a:t>Studi</a:t>
              </a:r>
              <a:endParaRPr sz="10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73" name="Google Shape;273;p20"/>
          <p:cNvSpPr/>
          <p:nvPr/>
        </p:nvSpPr>
        <p:spPr>
          <a:xfrm>
            <a:off x="685801" y="595575"/>
            <a:ext cx="7693818" cy="518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EE70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fr-FR" sz="1050" b="1" dirty="0">
                <a:solidFill>
                  <a:srgbClr val="FFB527"/>
                </a:solidFill>
                <a:latin typeface="Roboto"/>
                <a:ea typeface="Roboto"/>
                <a:cs typeface="Roboto"/>
                <a:sym typeface="Roboto"/>
              </a:rPr>
              <a:t>Le titre RNCP de « Gestionnaire Comptable et Fiscal » (Titre Professionnel « Gestionnaire comptable et fiscal”” niveau 5, enregistré au RNCP sous le numéro RNCP37949 par décision de France Compétences du 04/07/2024) est un Titre Professionnel de la DREETS</a:t>
            </a:r>
            <a:endParaRPr sz="1050" b="1" dirty="0">
              <a:solidFill>
                <a:srgbClr val="FFB52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6598950" y="4513300"/>
            <a:ext cx="2466300" cy="518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EE70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000" dirty="0">
                <a:solidFill>
                  <a:srgbClr val="FFB527"/>
                </a:solidFill>
                <a:latin typeface="Roboto"/>
                <a:ea typeface="Roboto"/>
                <a:cs typeface="Roboto"/>
                <a:sym typeface="Roboto"/>
              </a:rPr>
              <a:t>1 évaluation </a:t>
            </a:r>
            <a:r>
              <a:rPr lang="fr" sz="1000" dirty="0" smtClean="0">
                <a:solidFill>
                  <a:srgbClr val="FFB527"/>
                </a:solidFill>
                <a:latin typeface="Roboto"/>
                <a:ea typeface="Roboto"/>
                <a:cs typeface="Roboto"/>
                <a:sym typeface="Roboto"/>
              </a:rPr>
              <a:t>d'entraînement</a:t>
            </a:r>
            <a:endParaRPr dirty="0">
              <a:solidFill>
                <a:srgbClr val="FFB527"/>
              </a:solidFill>
            </a:endParaRPr>
          </a:p>
        </p:txBody>
      </p:sp>
      <p:grpSp>
        <p:nvGrpSpPr>
          <p:cNvPr id="275" name="Google Shape;275;p20"/>
          <p:cNvGrpSpPr/>
          <p:nvPr/>
        </p:nvGrpSpPr>
        <p:grpSpPr>
          <a:xfrm>
            <a:off x="4418444" y="2217232"/>
            <a:ext cx="2011824" cy="1689193"/>
            <a:chOff x="640801" y="1081353"/>
            <a:chExt cx="3380649" cy="515847"/>
          </a:xfrm>
        </p:grpSpPr>
        <p:sp>
          <p:nvSpPr>
            <p:cNvPr id="276" name="Google Shape;276;p20"/>
            <p:cNvSpPr/>
            <p:nvPr/>
          </p:nvSpPr>
          <p:spPr>
            <a:xfrm>
              <a:off x="696850" y="1166100"/>
              <a:ext cx="3324600" cy="431100"/>
            </a:xfrm>
            <a:prstGeom prst="rect">
              <a:avLst/>
            </a:prstGeom>
            <a:solidFill>
              <a:srgbClr val="59B9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/>
            </a:p>
          </p:txBody>
        </p:sp>
        <p:sp>
          <p:nvSpPr>
            <p:cNvPr id="277" name="Google Shape;277;p20"/>
            <p:cNvSpPr/>
            <p:nvPr/>
          </p:nvSpPr>
          <p:spPr>
            <a:xfrm>
              <a:off x="640801" y="1081353"/>
              <a:ext cx="3324600" cy="480900"/>
            </a:xfrm>
            <a:prstGeom prst="rect">
              <a:avLst/>
            </a:prstGeom>
            <a:solidFill>
              <a:srgbClr val="EFF2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 ECF FINALE</a:t>
              </a:r>
              <a:endParaRPr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78" name="Google Shape;278;p20"/>
          <p:cNvSpPr/>
          <p:nvPr/>
        </p:nvSpPr>
        <p:spPr>
          <a:xfrm>
            <a:off x="6476825" y="2725686"/>
            <a:ext cx="420300" cy="461700"/>
          </a:xfrm>
          <a:prstGeom prst="mathPlus">
            <a:avLst>
              <a:gd name="adj1" fmla="val 23520"/>
            </a:avLst>
          </a:prstGeom>
          <a:solidFill>
            <a:srgbClr val="FFB527"/>
          </a:solidFill>
          <a:ln w="9525" cap="flat" cmpd="sng">
            <a:solidFill>
              <a:srgbClr val="FFB5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934" y="4658151"/>
            <a:ext cx="658013" cy="228663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4"/>
          <p:cNvSpPr txBox="1"/>
          <p:nvPr/>
        </p:nvSpPr>
        <p:spPr>
          <a:xfrm>
            <a:off x="1030125" y="-29850"/>
            <a:ext cx="7616918" cy="661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fr" sz="1800" dirty="0">
                <a:solidFill>
                  <a:srgbClr val="59B9C7"/>
                </a:solidFill>
                <a:latin typeface="Roboto Medium"/>
                <a:ea typeface="Roboto Medium"/>
                <a:cs typeface="Roboto Medium"/>
                <a:sym typeface="Roboto Medium"/>
              </a:rPr>
              <a:t>03 </a:t>
            </a:r>
            <a:r>
              <a:rPr lang="fr" sz="1300" dirty="0">
                <a:solidFill>
                  <a:srgbClr val="59B9C7"/>
                </a:solidFill>
                <a:latin typeface="Roboto Medium"/>
                <a:ea typeface="Roboto Medium"/>
                <a:cs typeface="Roboto Medium"/>
                <a:sym typeface="Roboto Medium"/>
              </a:rPr>
              <a:t>- PRÉSENTATION DU </a:t>
            </a:r>
            <a:r>
              <a:rPr lang="fr" sz="1300" dirty="0" smtClean="0">
                <a:solidFill>
                  <a:srgbClr val="59B9C7"/>
                </a:solidFill>
                <a:latin typeface="Roboto Medium"/>
                <a:ea typeface="Roboto Medium"/>
                <a:cs typeface="Roboto Medium"/>
                <a:sym typeface="Roboto Medium"/>
              </a:rPr>
              <a:t>PARCOURS </a:t>
            </a:r>
            <a:r>
              <a:rPr lang="fr-FR" sz="1300" dirty="0">
                <a:solidFill>
                  <a:srgbClr val="59B9C7"/>
                </a:solidFill>
                <a:latin typeface="Roboto Medium"/>
                <a:ea typeface="Roboto Medium"/>
                <a:cs typeface="Roboto Medium"/>
                <a:sym typeface="Roboto Medium"/>
              </a:rPr>
              <a:t>GRADUATE GESTIONNAIRE COMPTABLE ET FISCAL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 dirty="0" smtClean="0">
                <a:solidFill>
                  <a:srgbClr val="59B9C7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endParaRPr sz="1300" dirty="0">
              <a:solidFill>
                <a:srgbClr val="59B9C7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374" name="Google Shape;374;p24"/>
          <p:cNvCxnSpPr/>
          <p:nvPr/>
        </p:nvCxnSpPr>
        <p:spPr>
          <a:xfrm>
            <a:off x="556425" y="190800"/>
            <a:ext cx="473700" cy="5100"/>
          </a:xfrm>
          <a:prstGeom prst="straightConnector1">
            <a:avLst/>
          </a:prstGeom>
          <a:noFill/>
          <a:ln w="19050" cap="flat" cmpd="sng">
            <a:solidFill>
              <a:srgbClr val="59B9C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5" name="Google Shape;375;p24"/>
          <p:cNvSpPr txBox="1"/>
          <p:nvPr/>
        </p:nvSpPr>
        <p:spPr>
          <a:xfrm>
            <a:off x="2021750" y="624150"/>
            <a:ext cx="40137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371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>
                <a:solidFill>
                  <a:srgbClr val="FFB527"/>
                </a:solidFill>
                <a:latin typeface="Roboto Medium"/>
                <a:ea typeface="Roboto Medium"/>
                <a:cs typeface="Roboto Medium"/>
                <a:sym typeface="Roboto Medium"/>
              </a:rPr>
              <a:t>Comment suis-je évalué ?</a:t>
            </a:r>
            <a:endParaRPr sz="1800" dirty="0">
              <a:solidFill>
                <a:srgbClr val="FFB527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76" name="Google Shape;376;p24"/>
          <p:cNvSpPr txBox="1"/>
          <p:nvPr/>
        </p:nvSpPr>
        <p:spPr>
          <a:xfrm>
            <a:off x="294925" y="886050"/>
            <a:ext cx="4863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TP DREETS</a:t>
            </a:r>
            <a:endParaRPr sz="12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24"/>
          <p:cNvSpPr/>
          <p:nvPr/>
        </p:nvSpPr>
        <p:spPr>
          <a:xfrm>
            <a:off x="364650" y="2360388"/>
            <a:ext cx="84147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A4A"/>
          </a:solidFill>
          <a:ln w="9525" cap="flat" cmpd="sng">
            <a:solidFill>
              <a:srgbClr val="FFC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FFCA4A"/>
              </a:highlight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526000" y="1981663"/>
            <a:ext cx="118500" cy="468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59B9C7"/>
          </a:solidFill>
          <a:ln w="9525" cap="flat" cmpd="sng">
            <a:solidFill>
              <a:srgbClr val="59B9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4"/>
          <p:cNvSpPr txBox="1"/>
          <p:nvPr/>
        </p:nvSpPr>
        <p:spPr>
          <a:xfrm>
            <a:off x="251575" y="1365825"/>
            <a:ext cx="8394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Entrée</a:t>
            </a:r>
            <a:r>
              <a:rPr lang="fr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en formation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24"/>
          <p:cNvSpPr/>
          <p:nvPr/>
        </p:nvSpPr>
        <p:spPr>
          <a:xfrm>
            <a:off x="2339125" y="1981663"/>
            <a:ext cx="118500" cy="468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59B9C7"/>
          </a:solidFill>
          <a:ln w="9525" cap="flat" cmpd="sng">
            <a:solidFill>
              <a:srgbClr val="59B9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4"/>
          <p:cNvSpPr txBox="1"/>
          <p:nvPr/>
        </p:nvSpPr>
        <p:spPr>
          <a:xfrm rot="2545">
            <a:off x="1600476" y="3762125"/>
            <a:ext cx="3646501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son rythme pendant son parcours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ECF d’entraînement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dirty="0">
                <a:solidFill>
                  <a:srgbClr val="59B9C7"/>
                </a:solidFill>
                <a:latin typeface="Roboto"/>
                <a:ea typeface="Roboto"/>
                <a:cs typeface="Roboto"/>
                <a:sym typeface="Roboto"/>
              </a:rPr>
              <a:t>Au plus tard </a:t>
            </a:r>
            <a:r>
              <a:rPr lang="fr" sz="800" b="1" dirty="0">
                <a:solidFill>
                  <a:srgbClr val="59B9C7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fr" sz="800" dirty="0" smtClean="0">
                <a:solidFill>
                  <a:srgbClr val="59B9C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fr" sz="800" dirty="0">
                <a:solidFill>
                  <a:srgbClr val="59B9C7"/>
                </a:solidFill>
                <a:latin typeface="Roboto"/>
                <a:ea typeface="Roboto"/>
                <a:cs typeface="Roboto"/>
                <a:sym typeface="Roboto"/>
              </a:rPr>
              <a:t>mois avant la fin de formation</a:t>
            </a:r>
            <a:endParaRPr sz="800" dirty="0">
              <a:solidFill>
                <a:srgbClr val="59B9C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Dépôts 1, 2 et/ou 3 du Dossier Professionnel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 dirty="0">
                <a:solidFill>
                  <a:srgbClr val="59B9C7"/>
                </a:solidFill>
                <a:latin typeface="Roboto"/>
                <a:ea typeface="Roboto"/>
                <a:cs typeface="Roboto"/>
                <a:sym typeface="Roboto"/>
              </a:rPr>
              <a:t>Conseil : à rendre au plus tard 1 mois avant le dépôt final</a:t>
            </a:r>
            <a:endParaRPr sz="800" dirty="0">
              <a:solidFill>
                <a:srgbClr val="59B9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24"/>
          <p:cNvSpPr/>
          <p:nvPr/>
        </p:nvSpPr>
        <p:spPr>
          <a:xfrm>
            <a:off x="4307350" y="2004163"/>
            <a:ext cx="118500" cy="468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59B9C7"/>
          </a:solidFill>
          <a:ln w="9525" cap="flat" cmpd="sng">
            <a:solidFill>
              <a:srgbClr val="59B9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4"/>
          <p:cNvSpPr txBox="1"/>
          <p:nvPr/>
        </p:nvSpPr>
        <p:spPr>
          <a:xfrm>
            <a:off x="3314350" y="1236938"/>
            <a:ext cx="21045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Dépôt final du Dossier Professionnel</a:t>
            </a:r>
            <a:endParaRPr sz="10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dirty="0">
                <a:solidFill>
                  <a:srgbClr val="59B9C7"/>
                </a:solidFill>
                <a:latin typeface="Roboto"/>
                <a:ea typeface="Roboto"/>
                <a:cs typeface="Roboto"/>
                <a:sym typeface="Roboto"/>
              </a:rPr>
              <a:t>Au plus tard </a:t>
            </a:r>
            <a:r>
              <a:rPr lang="fr" sz="1000" dirty="0" smtClean="0">
                <a:solidFill>
                  <a:srgbClr val="59B9C7"/>
                </a:solidFill>
                <a:latin typeface="Roboto"/>
                <a:ea typeface="Roboto"/>
                <a:cs typeface="Roboto"/>
                <a:sym typeface="Roboto"/>
              </a:rPr>
              <a:t>1 mois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dirty="0" smtClean="0">
                <a:solidFill>
                  <a:srgbClr val="59B9C7"/>
                </a:solidFill>
                <a:latin typeface="Roboto"/>
                <a:ea typeface="Roboto"/>
                <a:cs typeface="Roboto"/>
                <a:sym typeface="Roboto"/>
              </a:rPr>
              <a:t>avant vos examens</a:t>
            </a:r>
            <a:endParaRPr sz="1000" dirty="0">
              <a:solidFill>
                <a:srgbClr val="59B9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6444325" y="1981663"/>
            <a:ext cx="118500" cy="468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59B9C7"/>
          </a:solidFill>
          <a:ln w="9525" cap="flat" cmpd="sng">
            <a:solidFill>
              <a:srgbClr val="59B9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4"/>
          <p:cNvSpPr txBox="1"/>
          <p:nvPr/>
        </p:nvSpPr>
        <p:spPr>
          <a:xfrm>
            <a:off x="4908775" y="1291775"/>
            <a:ext cx="31896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Oral d’entraînement</a:t>
            </a:r>
            <a:endParaRPr sz="10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/>
            <a:r>
              <a:rPr lang="fr-FR" sz="1000" dirty="0">
                <a:solidFill>
                  <a:srgbClr val="59B9C7"/>
                </a:solidFill>
                <a:latin typeface="Roboto"/>
                <a:ea typeface="Roboto"/>
                <a:cs typeface="Roboto"/>
                <a:sym typeface="Roboto"/>
              </a:rPr>
              <a:t>Au plus tard </a:t>
            </a:r>
            <a:r>
              <a:rPr lang="fr-FR" sz="1000" dirty="0" smtClean="0">
                <a:solidFill>
                  <a:srgbClr val="59B9C7"/>
                </a:solidFill>
                <a:latin typeface="Roboto"/>
                <a:ea typeface="Roboto"/>
                <a:cs typeface="Roboto"/>
                <a:sym typeface="Roboto"/>
              </a:rPr>
              <a:t>1 semaine</a:t>
            </a:r>
          </a:p>
          <a:p>
            <a:pPr algn="ctr"/>
            <a:r>
              <a:rPr lang="fr-FR" sz="1000" dirty="0" smtClean="0">
                <a:solidFill>
                  <a:srgbClr val="59B9C7"/>
                </a:solidFill>
                <a:latin typeface="Roboto"/>
                <a:ea typeface="Roboto"/>
                <a:cs typeface="Roboto"/>
                <a:sym typeface="Roboto"/>
              </a:rPr>
              <a:t>avant </a:t>
            </a:r>
            <a:r>
              <a:rPr lang="fr-FR" sz="1000" dirty="0">
                <a:solidFill>
                  <a:srgbClr val="59B9C7"/>
                </a:solidFill>
                <a:latin typeface="Roboto"/>
                <a:ea typeface="Roboto"/>
                <a:cs typeface="Roboto"/>
                <a:sym typeface="Roboto"/>
              </a:rPr>
              <a:t>vos examens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i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6" name="Google Shape;386;p24"/>
          <p:cNvCxnSpPr/>
          <p:nvPr/>
        </p:nvCxnSpPr>
        <p:spPr>
          <a:xfrm rot="10800000">
            <a:off x="1214750" y="4886825"/>
            <a:ext cx="72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7" name="Google Shape;387;p24"/>
          <p:cNvSpPr txBox="1"/>
          <p:nvPr/>
        </p:nvSpPr>
        <p:spPr>
          <a:xfrm>
            <a:off x="2063025" y="4727275"/>
            <a:ext cx="3606600" cy="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Réalisation du </a:t>
            </a:r>
            <a:r>
              <a:rPr lang="fr" sz="9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stage</a:t>
            </a:r>
            <a:r>
              <a:rPr lang="fr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fr" sz="9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 concerné</a:t>
            </a:r>
            <a:r>
              <a:rPr lang="fr" sz="9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9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8" name="Google Shape;388;p24"/>
          <p:cNvCxnSpPr/>
          <p:nvPr/>
        </p:nvCxnSpPr>
        <p:spPr>
          <a:xfrm>
            <a:off x="4001650" y="4886825"/>
            <a:ext cx="72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9" name="Google Shape;389;p24"/>
          <p:cNvCxnSpPr/>
          <p:nvPr/>
        </p:nvCxnSpPr>
        <p:spPr>
          <a:xfrm flipH="1" flipV="1">
            <a:off x="1030094" y="3934735"/>
            <a:ext cx="1116758" cy="778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0" name="Google Shape;390;p24"/>
          <p:cNvSpPr/>
          <p:nvPr/>
        </p:nvSpPr>
        <p:spPr>
          <a:xfrm rot="10800000">
            <a:off x="5418850" y="2499063"/>
            <a:ext cx="118500" cy="468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59B9C7"/>
          </a:solidFill>
          <a:ln w="9525" cap="flat" cmpd="sng">
            <a:solidFill>
              <a:srgbClr val="59B9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4"/>
          <p:cNvSpPr txBox="1"/>
          <p:nvPr/>
        </p:nvSpPr>
        <p:spPr>
          <a:xfrm rot="2602">
            <a:off x="4289048" y="3030450"/>
            <a:ext cx="2378101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Convocation </a:t>
            </a:r>
            <a:r>
              <a:rPr lang="fr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aux examens</a:t>
            </a:r>
            <a:endParaRPr sz="1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dirty="0">
                <a:solidFill>
                  <a:srgbClr val="59B9C7"/>
                </a:solidFill>
                <a:latin typeface="Roboto"/>
                <a:ea typeface="Roboto"/>
                <a:cs typeface="Roboto"/>
                <a:sym typeface="Roboto"/>
              </a:rPr>
              <a:t>Au plus tard </a:t>
            </a:r>
            <a:r>
              <a:rPr lang="fr" sz="1000" dirty="0" smtClean="0">
                <a:solidFill>
                  <a:srgbClr val="59B9C7"/>
                </a:solidFill>
                <a:latin typeface="Roboto"/>
                <a:ea typeface="Roboto"/>
                <a:cs typeface="Roboto"/>
                <a:sym typeface="Roboto"/>
              </a:rPr>
              <a:t>1 mois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dirty="0" smtClean="0">
                <a:solidFill>
                  <a:srgbClr val="59B9C7"/>
                </a:solidFill>
                <a:latin typeface="Roboto"/>
                <a:ea typeface="Roboto"/>
                <a:cs typeface="Roboto"/>
                <a:sym typeface="Roboto"/>
              </a:rPr>
              <a:t>avant les examens</a:t>
            </a:r>
            <a:endParaRPr sz="1000" dirty="0">
              <a:solidFill>
                <a:srgbClr val="59B9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2" name="Google Shape;392;p24"/>
          <p:cNvCxnSpPr/>
          <p:nvPr/>
        </p:nvCxnSpPr>
        <p:spPr>
          <a:xfrm>
            <a:off x="4717881" y="3951402"/>
            <a:ext cx="1129200" cy="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3" name="Google Shape;393;p24"/>
          <p:cNvSpPr/>
          <p:nvPr/>
        </p:nvSpPr>
        <p:spPr>
          <a:xfrm rot="10800000">
            <a:off x="1290000" y="2520588"/>
            <a:ext cx="118500" cy="468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59B9C7"/>
          </a:solidFill>
          <a:ln w="9525" cap="flat" cmpd="sng">
            <a:solidFill>
              <a:srgbClr val="59B9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4"/>
          <p:cNvSpPr txBox="1"/>
          <p:nvPr/>
        </p:nvSpPr>
        <p:spPr>
          <a:xfrm rot="2602">
            <a:off x="160198" y="3019200"/>
            <a:ext cx="2378101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Inscription </a:t>
            </a:r>
            <a:r>
              <a:rPr lang="fr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à l’examen (obligatoire)</a:t>
            </a:r>
            <a:endParaRPr sz="1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dirty="0">
                <a:solidFill>
                  <a:srgbClr val="59B9C7"/>
                </a:solidFill>
                <a:latin typeface="Roboto"/>
                <a:ea typeface="Roboto"/>
                <a:cs typeface="Roboto"/>
                <a:sym typeface="Roboto"/>
              </a:rPr>
              <a:t>Jotform envoyé par e-mail</a:t>
            </a:r>
            <a:endParaRPr sz="1000" dirty="0">
              <a:solidFill>
                <a:srgbClr val="59B9C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dirty="0">
                <a:solidFill>
                  <a:srgbClr val="59B9C7"/>
                </a:solidFill>
                <a:latin typeface="Roboto"/>
                <a:ea typeface="Roboto"/>
                <a:cs typeface="Roboto"/>
                <a:sym typeface="Roboto"/>
              </a:rPr>
              <a:t>4 mois au plus tard avant le début de la session d’examen</a:t>
            </a:r>
            <a:endParaRPr sz="1000" dirty="0">
              <a:solidFill>
                <a:srgbClr val="59B9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24"/>
          <p:cNvSpPr txBox="1"/>
          <p:nvPr/>
        </p:nvSpPr>
        <p:spPr>
          <a:xfrm rot="2602">
            <a:off x="1209323" y="1365825"/>
            <a:ext cx="2378101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Réalisation et dépôt de l’</a:t>
            </a:r>
            <a:r>
              <a:rPr lang="fr" sz="1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ECF finale</a:t>
            </a:r>
            <a:endParaRPr sz="10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dirty="0">
                <a:solidFill>
                  <a:srgbClr val="59B9C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fr" sz="1000" dirty="0" smtClean="0">
                <a:solidFill>
                  <a:srgbClr val="59B9C7"/>
                </a:solidFill>
                <a:latin typeface="Roboto"/>
                <a:ea typeface="Roboto"/>
                <a:cs typeface="Roboto"/>
                <a:sym typeface="Roboto"/>
              </a:rPr>
              <a:t>avant la date limite de dépot</a:t>
            </a:r>
            <a:endParaRPr sz="1000" dirty="0">
              <a:solidFill>
                <a:srgbClr val="59B9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24"/>
          <p:cNvSpPr/>
          <p:nvPr/>
        </p:nvSpPr>
        <p:spPr>
          <a:xfrm rot="10800000">
            <a:off x="7088475" y="2499063"/>
            <a:ext cx="118500" cy="468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59B9C7"/>
          </a:solidFill>
          <a:ln w="9525" cap="flat" cmpd="sng">
            <a:solidFill>
              <a:srgbClr val="59B9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4"/>
          <p:cNvSpPr txBox="1"/>
          <p:nvPr/>
        </p:nvSpPr>
        <p:spPr>
          <a:xfrm rot="2602">
            <a:off x="5958673" y="3019200"/>
            <a:ext cx="2378101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Examens </a:t>
            </a:r>
            <a:r>
              <a:rPr lang="fr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finaux en</a:t>
            </a:r>
            <a:r>
              <a:rPr lang="fr" sz="1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présentiel</a:t>
            </a:r>
            <a:endParaRPr sz="1000" dirty="0">
              <a:solidFill>
                <a:srgbClr val="59B9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24"/>
          <p:cNvSpPr/>
          <p:nvPr/>
        </p:nvSpPr>
        <p:spPr>
          <a:xfrm>
            <a:off x="8218275" y="1981663"/>
            <a:ext cx="118500" cy="468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59B9C7"/>
          </a:solidFill>
          <a:ln w="9525" cap="flat" cmpd="sng">
            <a:solidFill>
              <a:srgbClr val="59B9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24"/>
          <p:cNvSpPr txBox="1"/>
          <p:nvPr/>
        </p:nvSpPr>
        <p:spPr>
          <a:xfrm>
            <a:off x="7262625" y="1313338"/>
            <a:ext cx="2029800" cy="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Résultats et documents envoyés par la DREETS</a:t>
            </a:r>
            <a:endParaRPr sz="10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dirty="0">
                <a:solidFill>
                  <a:srgbClr val="59B9C7"/>
                </a:solidFill>
                <a:latin typeface="Roboto"/>
                <a:ea typeface="Roboto"/>
                <a:cs typeface="Roboto"/>
                <a:sym typeface="Roboto"/>
              </a:rPr>
              <a:t>Délai de 3 à 6 mois</a:t>
            </a:r>
            <a:endParaRPr sz="1000" dirty="0">
              <a:solidFill>
                <a:srgbClr val="59B9C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6736449" y="4055550"/>
            <a:ext cx="2175637" cy="518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EE70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1" dirty="0">
                <a:solidFill>
                  <a:srgbClr val="FFB527"/>
                </a:solidFill>
                <a:latin typeface="Roboto"/>
                <a:ea typeface="Roboto"/>
                <a:cs typeface="Roboto"/>
                <a:sym typeface="Roboto"/>
              </a:rPr>
              <a:t>stage obligatoire : </a:t>
            </a:r>
            <a:r>
              <a:rPr lang="fr" sz="900" b="1" dirty="0" smtClean="0">
                <a:solidFill>
                  <a:srgbClr val="FFB527"/>
                </a:solidFill>
                <a:latin typeface="Roboto"/>
                <a:ea typeface="Roboto"/>
                <a:cs typeface="Roboto"/>
                <a:sym typeface="Roboto"/>
              </a:rPr>
              <a:t>non</a:t>
            </a:r>
            <a:endParaRPr sz="900" b="1" dirty="0">
              <a:solidFill>
                <a:srgbClr val="FFB52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1" dirty="0">
                <a:solidFill>
                  <a:srgbClr val="FFB527"/>
                </a:solidFill>
                <a:latin typeface="Roboto"/>
                <a:ea typeface="Roboto"/>
                <a:cs typeface="Roboto"/>
                <a:sym typeface="Roboto"/>
              </a:rPr>
              <a:t>Durée </a:t>
            </a:r>
            <a:r>
              <a:rPr lang="fr" sz="900" b="1" dirty="0" smtClean="0">
                <a:solidFill>
                  <a:srgbClr val="FFB527"/>
                </a:solidFill>
                <a:latin typeface="Roboto"/>
                <a:ea typeface="Roboto"/>
                <a:cs typeface="Roboto"/>
                <a:sym typeface="Roboto"/>
              </a:rPr>
              <a:t>: 4 semaines recommandé</a:t>
            </a:r>
            <a:endParaRPr sz="900" b="1" dirty="0">
              <a:solidFill>
                <a:srgbClr val="FFB527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1" dirty="0">
                <a:solidFill>
                  <a:srgbClr val="FFB527"/>
                </a:solidFill>
                <a:latin typeface="Roboto"/>
                <a:ea typeface="Roboto"/>
                <a:cs typeface="Roboto"/>
                <a:sym typeface="Roboto"/>
              </a:rPr>
              <a:t>quand commencer ? </a:t>
            </a:r>
            <a:r>
              <a:rPr lang="fr" sz="900" b="1" dirty="0" smtClean="0">
                <a:solidFill>
                  <a:srgbClr val="FFB527"/>
                </a:solidFill>
                <a:latin typeface="Roboto"/>
                <a:ea typeface="Roboto"/>
                <a:cs typeface="Roboto"/>
                <a:sym typeface="Roboto"/>
              </a:rPr>
              <a:t>A la fin de l’AT 2</a:t>
            </a:r>
            <a:endParaRPr sz="900" b="1" dirty="0">
              <a:solidFill>
                <a:srgbClr val="FFB52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934" y="4658151"/>
            <a:ext cx="658013" cy="228663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5"/>
          <p:cNvSpPr txBox="1"/>
          <p:nvPr/>
        </p:nvSpPr>
        <p:spPr>
          <a:xfrm>
            <a:off x="1030125" y="-29850"/>
            <a:ext cx="409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59B9C7"/>
                </a:solidFill>
                <a:latin typeface="Roboto Medium"/>
                <a:ea typeface="Roboto Medium"/>
                <a:cs typeface="Roboto Medium"/>
                <a:sym typeface="Roboto Medium"/>
              </a:rPr>
              <a:t>04 </a:t>
            </a:r>
            <a:r>
              <a:rPr lang="fr" sz="1300">
                <a:solidFill>
                  <a:srgbClr val="59B9C7"/>
                </a:solidFill>
                <a:latin typeface="Roboto Medium"/>
                <a:ea typeface="Roboto Medium"/>
                <a:cs typeface="Roboto Medium"/>
                <a:sym typeface="Roboto Medium"/>
              </a:rPr>
              <a:t>- APRÈS CE LIVE ?</a:t>
            </a:r>
            <a:endParaRPr sz="1300">
              <a:solidFill>
                <a:srgbClr val="59B9C7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407" name="Google Shape;407;p25"/>
          <p:cNvCxnSpPr/>
          <p:nvPr/>
        </p:nvCxnSpPr>
        <p:spPr>
          <a:xfrm>
            <a:off x="556425" y="190800"/>
            <a:ext cx="473700" cy="5100"/>
          </a:xfrm>
          <a:prstGeom prst="straightConnector1">
            <a:avLst/>
          </a:prstGeom>
          <a:noFill/>
          <a:ln w="19050" cap="flat" cmpd="sng">
            <a:solidFill>
              <a:srgbClr val="59B9C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8" name="Google Shape;408;p25"/>
          <p:cNvSpPr/>
          <p:nvPr/>
        </p:nvSpPr>
        <p:spPr>
          <a:xfrm>
            <a:off x="25050" y="777450"/>
            <a:ext cx="9093900" cy="2905800"/>
          </a:xfrm>
          <a:prstGeom prst="rect">
            <a:avLst/>
          </a:prstGeom>
          <a:solidFill>
            <a:srgbClr val="FFB527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25"/>
          <p:cNvSpPr/>
          <p:nvPr/>
        </p:nvSpPr>
        <p:spPr>
          <a:xfrm>
            <a:off x="25050" y="980675"/>
            <a:ext cx="8910000" cy="2496300"/>
          </a:xfrm>
          <a:prstGeom prst="rect">
            <a:avLst/>
          </a:prstGeom>
          <a:solidFill>
            <a:srgbClr val="FFF8E9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25"/>
          <p:cNvSpPr txBox="1"/>
          <p:nvPr/>
        </p:nvSpPr>
        <p:spPr>
          <a:xfrm>
            <a:off x="514618" y="928375"/>
            <a:ext cx="792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r" sz="2700" b="1">
                <a:solidFill>
                  <a:srgbClr val="0097A7"/>
                </a:solidFill>
                <a:latin typeface="Poppins"/>
                <a:ea typeface="Poppins"/>
                <a:cs typeface="Poppins"/>
                <a:sym typeface="Poppins"/>
              </a:rPr>
              <a:t>01.</a:t>
            </a:r>
            <a:endParaRPr sz="2900" b="1">
              <a:solidFill>
                <a:srgbClr val="0097A7"/>
              </a:solidFill>
            </a:endParaRPr>
          </a:p>
        </p:txBody>
      </p:sp>
      <p:sp>
        <p:nvSpPr>
          <p:cNvPr id="411" name="Google Shape;411;p25"/>
          <p:cNvSpPr txBox="1"/>
          <p:nvPr/>
        </p:nvSpPr>
        <p:spPr>
          <a:xfrm>
            <a:off x="1249514" y="1098062"/>
            <a:ext cx="50679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Prendre rendez-vous avec votre </a:t>
            </a:r>
            <a:r>
              <a:rPr lang="fr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chargé de relation </a:t>
            </a:r>
            <a:r>
              <a:rPr lang="fr" b="1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apprenant</a:t>
            </a:r>
            <a:endParaRPr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25"/>
          <p:cNvSpPr txBox="1"/>
          <p:nvPr/>
        </p:nvSpPr>
        <p:spPr>
          <a:xfrm>
            <a:off x="514618" y="1681621"/>
            <a:ext cx="792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r" sz="2700" b="1">
                <a:solidFill>
                  <a:srgbClr val="0097A7"/>
                </a:solidFill>
                <a:latin typeface="Poppins"/>
                <a:ea typeface="Poppins"/>
                <a:cs typeface="Poppins"/>
                <a:sym typeface="Poppins"/>
              </a:rPr>
              <a:t>02.</a:t>
            </a:r>
            <a:endParaRPr sz="2900" b="1">
              <a:solidFill>
                <a:srgbClr val="0097A7"/>
              </a:solidFill>
            </a:endParaRPr>
          </a:p>
        </p:txBody>
      </p:sp>
      <p:sp>
        <p:nvSpPr>
          <p:cNvPr id="413" name="Google Shape;413;p25"/>
          <p:cNvSpPr txBox="1"/>
          <p:nvPr/>
        </p:nvSpPr>
        <p:spPr>
          <a:xfrm>
            <a:off x="1249530" y="1824057"/>
            <a:ext cx="60162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Assister au live “</a:t>
            </a:r>
            <a:r>
              <a:rPr lang="fr" i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Parcours de rentrée</a:t>
            </a:r>
            <a:r>
              <a:rPr lang="fr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” pour la </a:t>
            </a:r>
            <a:r>
              <a:rPr lang="fr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prise en main de votre plateforme</a:t>
            </a:r>
            <a:endParaRPr b="1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25"/>
          <p:cNvSpPr txBox="1"/>
          <p:nvPr/>
        </p:nvSpPr>
        <p:spPr>
          <a:xfrm>
            <a:off x="514618" y="2434866"/>
            <a:ext cx="792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r" sz="2700" b="1">
                <a:solidFill>
                  <a:srgbClr val="0097A7"/>
                </a:solidFill>
                <a:latin typeface="Poppins"/>
                <a:ea typeface="Poppins"/>
                <a:cs typeface="Poppins"/>
                <a:sym typeface="Poppins"/>
              </a:rPr>
              <a:t>03.</a:t>
            </a:r>
            <a:endParaRPr sz="2900" b="1">
              <a:solidFill>
                <a:srgbClr val="0097A7"/>
              </a:solidFill>
            </a:endParaRPr>
          </a:p>
        </p:txBody>
      </p:sp>
      <p:sp>
        <p:nvSpPr>
          <p:cNvPr id="415" name="Google Shape;415;p25"/>
          <p:cNvSpPr txBox="1"/>
          <p:nvPr/>
        </p:nvSpPr>
        <p:spPr>
          <a:xfrm>
            <a:off x="1198321" y="2588900"/>
            <a:ext cx="60162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Consulter le </a:t>
            </a:r>
            <a:r>
              <a:rPr lang="fr" b="1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planning des lives </a:t>
            </a:r>
            <a:r>
              <a:rPr lang="fr" b="1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 votre équipe pédagogique</a:t>
            </a:r>
            <a:endParaRPr b="1" dirty="0" smtClean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 prochain  “</a:t>
            </a:r>
            <a:r>
              <a:rPr lang="fr" i="1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Permanance pédagogique</a:t>
            </a:r>
            <a:r>
              <a:rPr lang="fr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” prévu le </a:t>
            </a:r>
            <a:r>
              <a:rPr lang="fr" b="1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</a:t>
            </a:r>
            <a:r>
              <a:rPr lang="fr" b="1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/12/2025</a:t>
            </a:r>
            <a:endParaRPr b="1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6" name="Google Shape;41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5718" y="2753416"/>
            <a:ext cx="364669" cy="352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74888" y="1897048"/>
            <a:ext cx="398132" cy="384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7414" y="1161327"/>
            <a:ext cx="457478" cy="416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6"/>
          <p:cNvSpPr/>
          <p:nvPr/>
        </p:nvSpPr>
        <p:spPr>
          <a:xfrm>
            <a:off x="5629300" y="783450"/>
            <a:ext cx="2793900" cy="3881400"/>
          </a:xfrm>
          <a:prstGeom prst="rect">
            <a:avLst/>
          </a:prstGeom>
          <a:solidFill>
            <a:srgbClr val="59B9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6"/>
          <p:cNvSpPr/>
          <p:nvPr/>
        </p:nvSpPr>
        <p:spPr>
          <a:xfrm>
            <a:off x="5476900" y="631050"/>
            <a:ext cx="2793900" cy="3881400"/>
          </a:xfrm>
          <a:prstGeom prst="rect">
            <a:avLst/>
          </a:prstGeom>
          <a:solidFill>
            <a:srgbClr val="EEF8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6"/>
          <p:cNvSpPr txBox="1"/>
          <p:nvPr/>
        </p:nvSpPr>
        <p:spPr>
          <a:xfrm>
            <a:off x="2468575" y="2111375"/>
            <a:ext cx="4754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fr" sz="2800"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Merci pour votre attention ! </a:t>
            </a:r>
            <a:endParaRPr sz="2200"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6" name="Google Shape;42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550" y="947500"/>
            <a:ext cx="1594533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550" y="3572400"/>
            <a:ext cx="1141425" cy="107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1192</TotalTime>
  <Words>654</Words>
  <Application>Microsoft Office PowerPoint</Application>
  <PresentationFormat>Affichage à l'écran (16:9)</PresentationFormat>
  <Paragraphs>116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Roboto Medium</vt:lpstr>
      <vt:lpstr>Caveat SemiBold</vt:lpstr>
      <vt:lpstr>Poppins</vt:lpstr>
      <vt:lpstr>Roboto</vt:lpstr>
      <vt:lpstr>Arial</vt:lpstr>
      <vt:lpstr>Impact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adminPC</cp:lastModifiedBy>
  <cp:revision>17</cp:revision>
  <dcterms:modified xsi:type="dcterms:W3CDTF">2025-12-03T16:07:05Z</dcterms:modified>
</cp:coreProperties>
</file>